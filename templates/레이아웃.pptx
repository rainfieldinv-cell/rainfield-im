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2" r:id="rId2"/>
    <p:sldId id="269" r:id="rId3"/>
    <p:sldId id="507" r:id="rId4"/>
    <p:sldId id="270" r:id="rId5"/>
    <p:sldId id="271" r:id="rId6"/>
    <p:sldId id="304" r:id="rId7"/>
    <p:sldId id="328" r:id="rId8"/>
    <p:sldId id="506" r:id="rId9"/>
    <p:sldId id="305" r:id="rId10"/>
    <p:sldId id="312" r:id="rId11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95BE"/>
    <a:srgbClr val="08377C"/>
    <a:srgbClr val="595959"/>
    <a:srgbClr val="0063A1"/>
    <a:srgbClr val="8C4A59"/>
    <a:srgbClr val="D9D9D9"/>
    <a:srgbClr val="F2F2F2"/>
    <a:srgbClr val="A4ABBD"/>
    <a:srgbClr val="A5A5A5"/>
    <a:srgbClr val="6AA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7" autoAdjust="0"/>
    <p:restoredTop sz="93046" autoAdjust="0"/>
  </p:normalViewPr>
  <p:slideViewPr>
    <p:cSldViewPr snapToGrid="0">
      <p:cViewPr varScale="1">
        <p:scale>
          <a:sx n="62" d="100"/>
          <a:sy n="62" d="100"/>
        </p:scale>
        <p:origin x="66" y="1026"/>
      </p:cViewPr>
      <p:guideLst>
        <p:guide orient="horz" pos="2160"/>
        <p:guide pos="3143"/>
      </p:guideLst>
    </p:cSldViewPr>
  </p:slideViewPr>
  <p:outlineViewPr>
    <p:cViewPr>
      <p:scale>
        <a:sx n="33" d="100"/>
        <a:sy n="33" d="100"/>
      </p:scale>
      <p:origin x="0" y="-66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13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B0CBE-BEF5-4768-88B7-C8D33A226F8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6EBDD-C751-45FE-A110-B7B11DBE4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7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6EBDD-C751-45FE-A110-B7B11DBE49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49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2658A97-D488-4F93-9E61-955213704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700" y="397926"/>
            <a:ext cx="3228975" cy="198437"/>
          </a:xfrm>
        </p:spPr>
        <p:txBody>
          <a:bodyPr lIns="0" tIns="72000" rIns="0" bIns="0" anchor="ctr">
            <a:normAutofit/>
          </a:bodyPr>
          <a:lstStyle>
            <a:lvl1pPr marL="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챕터명을 입력</a:t>
            </a:r>
          </a:p>
        </p:txBody>
      </p:sp>
      <p:sp>
        <p:nvSpPr>
          <p:cNvPr id="26" name="텍스트 개체 틀 24">
            <a:extLst>
              <a:ext uri="{FF2B5EF4-FFF2-40B4-BE49-F238E27FC236}">
                <a16:creationId xmlns:a16="http://schemas.microsoft.com/office/drawing/2014/main" id="{A14A10F8-1FAF-4934-8322-2E8649EE6B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700" y="588702"/>
            <a:ext cx="3228975" cy="265509"/>
          </a:xfrm>
        </p:spPr>
        <p:txBody>
          <a:bodyPr lIns="0" tIns="36000" rIns="0" bIns="0" anchor="ctr">
            <a:noAutofit/>
          </a:bodyPr>
          <a:lstStyle>
            <a:lvl1pPr marL="0" indent="0">
              <a:buNone/>
              <a:defRPr sz="1400">
                <a:solidFill>
                  <a:srgbClr val="002548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소제목을 입력</a:t>
            </a:r>
          </a:p>
        </p:txBody>
      </p:sp>
      <p:sp>
        <p:nvSpPr>
          <p:cNvPr id="27" name="텍스트 개체 틀 24">
            <a:extLst>
              <a:ext uri="{FF2B5EF4-FFF2-40B4-BE49-F238E27FC236}">
                <a16:creationId xmlns:a16="http://schemas.microsoft.com/office/drawing/2014/main" id="{133F99F5-21F0-469A-B7BC-918EAA068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795364"/>
            <a:ext cx="7912100" cy="308931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헤드메시지를 입력</a:t>
            </a:r>
            <a:br>
              <a:rPr lang="en-US" altLang="ko-KR" dirty="0"/>
            </a:br>
            <a:r>
              <a:rPr lang="ko-KR" altLang="en-US" dirty="0" err="1"/>
              <a:t>엔터는</a:t>
            </a:r>
            <a:r>
              <a:rPr lang="ko-KR" altLang="en-US" dirty="0"/>
              <a:t> 시프트 </a:t>
            </a:r>
            <a:r>
              <a:rPr lang="ko-KR" altLang="en-US" dirty="0" err="1"/>
              <a:t>엔터로</a:t>
            </a:r>
            <a:endParaRPr lang="en-US" altLang="ko-KR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0C9A8AA-7590-4D3D-8DDD-97CDAA204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38575" y="6558727"/>
            <a:ext cx="2228850" cy="227169"/>
          </a:xfrm>
        </p:spPr>
        <p:txBody>
          <a:bodyPr rIns="0"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F3A57096-21A8-44ED-AF94-8A259496D2B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25C252-E7DD-6B3E-3A2A-FF4DD42D7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3868" y="183222"/>
            <a:ext cx="2723863" cy="217735"/>
          </a:xfrm>
          <a:prstGeom prst="rect">
            <a:avLst/>
          </a:prstGeom>
        </p:spPr>
      </p:pic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C1755CCF-F143-4C0B-BF11-9423A72FAB19}"/>
              </a:ext>
            </a:extLst>
          </p:cNvPr>
          <p:cNvSpPr/>
          <p:nvPr userDrawn="1"/>
        </p:nvSpPr>
        <p:spPr>
          <a:xfrm flipV="1">
            <a:off x="0" y="-1"/>
            <a:ext cx="338433" cy="335952"/>
          </a:xfrm>
          <a:prstGeom prst="rtTriangle">
            <a:avLst/>
          </a:prstGeom>
          <a:solidFill>
            <a:srgbClr val="0837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C48AF91-12B6-4BD4-A640-497CC16E1DE1}"/>
              </a:ext>
            </a:extLst>
          </p:cNvPr>
          <p:cNvSpPr/>
          <p:nvPr userDrawn="1"/>
        </p:nvSpPr>
        <p:spPr>
          <a:xfrm flipV="1">
            <a:off x="0" y="335951"/>
            <a:ext cx="338433" cy="335951"/>
          </a:xfrm>
          <a:prstGeom prst="rtTriangle">
            <a:avLst/>
          </a:prstGeom>
          <a:solidFill>
            <a:srgbClr val="3E9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0388EC82-92ED-4BEE-A296-BE507F4E348F}"/>
              </a:ext>
            </a:extLst>
          </p:cNvPr>
          <p:cNvSpPr/>
          <p:nvPr userDrawn="1"/>
        </p:nvSpPr>
        <p:spPr>
          <a:xfrm flipV="1">
            <a:off x="338433" y="0"/>
            <a:ext cx="338433" cy="335951"/>
          </a:xfrm>
          <a:prstGeom prst="rtTriangle">
            <a:avLst/>
          </a:prstGeom>
          <a:solidFill>
            <a:srgbClr val="006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72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5">
            <a:extLst>
              <a:ext uri="{FF2B5EF4-FFF2-40B4-BE49-F238E27FC236}">
                <a16:creationId xmlns:a16="http://schemas.microsoft.com/office/drawing/2014/main" id="{61868E28-E971-4418-87EB-1ADB07E11B0C}"/>
              </a:ext>
            </a:extLst>
          </p:cNvPr>
          <p:cNvPicPr/>
          <p:nvPr/>
        </p:nvPicPr>
        <p:blipFill rotWithShape="1">
          <a:blip r:embed="rId3" cstate="print"/>
          <a:srcRect l="24516" r="21443"/>
          <a:stretch/>
        </p:blipFill>
        <p:spPr>
          <a:xfrm>
            <a:off x="5395457" y="0"/>
            <a:ext cx="4510544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98FC17-E489-49A1-A969-074DB6C0BB06}"/>
              </a:ext>
            </a:extLst>
          </p:cNvPr>
          <p:cNvSpPr txBox="1"/>
          <p:nvPr/>
        </p:nvSpPr>
        <p:spPr>
          <a:xfrm>
            <a:off x="614372" y="2841077"/>
            <a:ext cx="464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사업명</a:t>
            </a:r>
            <a:r>
              <a:rPr lang="en-US" altLang="ko-KR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제안서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705E13-BD77-4F42-A08E-A222D687E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1" y="54905"/>
            <a:ext cx="907166" cy="1937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39E339-B0D3-4404-96E1-2A662EE44842}"/>
              </a:ext>
            </a:extLst>
          </p:cNvPr>
          <p:cNvSpPr txBox="1"/>
          <p:nvPr/>
        </p:nvSpPr>
        <p:spPr>
          <a:xfrm>
            <a:off x="614372" y="3511918"/>
            <a:ext cx="4362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몇월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영어 표시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그해 년도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61EC1-6423-43C9-9D21-741DEB5453F7}"/>
              </a:ext>
            </a:extLst>
          </p:cNvPr>
          <p:cNvSpPr txBox="1"/>
          <p:nvPr/>
        </p:nvSpPr>
        <p:spPr>
          <a:xfrm>
            <a:off x="617034" y="2631106"/>
            <a:ext cx="3753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Information Memorandum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60FC662-314C-4BDA-BD07-C0305AAF55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18" y="2372165"/>
            <a:ext cx="2665584" cy="21307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85BE55E-748C-4C4C-B871-BF424F682E6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43"/>
          <a:stretch/>
        </p:blipFill>
        <p:spPr>
          <a:xfrm>
            <a:off x="5015859" y="0"/>
            <a:ext cx="1038313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01DDD2D-8608-4BD7-9382-8E84A1BC90CC}"/>
              </a:ext>
            </a:extLst>
          </p:cNvPr>
          <p:cNvSpPr/>
          <p:nvPr/>
        </p:nvSpPr>
        <p:spPr>
          <a:xfrm>
            <a:off x="614372" y="5415975"/>
            <a:ext cx="4655311" cy="1173302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b="1" dirty="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[Disclaimer]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이 문서는 법적 구속력이 없으며 금융기관의 여신심사 과정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금융약정 체결을 위한 검토과정 등 향후 사정에 따라 사전 통지 없이 변경될 수 있고 실제로 이루어질 거래의 내용이나 구조와 상이할 수 있습니다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는 본 금융조건에 대하여 최대한 정확하고 완전한 정보를 담고자 노력하였으나 이 문서에는 오류 또는 중요정보의 누락이 있을 수 있으며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는 정보의 정확성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완전성 및 적정성에 대하여 어떠한 보증도 제공하지 않고 그에 관한 어떠한 의무도 부담하지 않습니다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이 문서는 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의 주관을 전제로 한 자금조달을 위하여 작성되었으며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어떠한 경우에도 금융투자상품의 매수의 청약 권유 또는 매도의 청약으로 해석될 수 없고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귀사 이외의 제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3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자에게 제공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공개 또는 유출되어서는 안됩니다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육각형 24">
            <a:extLst>
              <a:ext uri="{FF2B5EF4-FFF2-40B4-BE49-F238E27FC236}">
                <a16:creationId xmlns:a16="http://schemas.microsoft.com/office/drawing/2014/main" id="{34C4331A-3665-4D62-8E3C-7B11E0A556C4}"/>
              </a:ext>
            </a:extLst>
          </p:cNvPr>
          <p:cNvSpPr/>
          <p:nvPr/>
        </p:nvSpPr>
        <p:spPr>
          <a:xfrm>
            <a:off x="1187918" y="2952900"/>
            <a:ext cx="7530164" cy="1660710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육각형 25">
            <a:extLst>
              <a:ext uri="{FF2B5EF4-FFF2-40B4-BE49-F238E27FC236}">
                <a16:creationId xmlns:a16="http://schemas.microsoft.com/office/drawing/2014/main" id="{7BF180A2-A688-40F0-A757-2E6DE480716C}"/>
              </a:ext>
            </a:extLst>
          </p:cNvPr>
          <p:cNvSpPr/>
          <p:nvPr/>
        </p:nvSpPr>
        <p:spPr>
          <a:xfrm>
            <a:off x="1355774" y="2873664"/>
            <a:ext cx="7175041" cy="1873756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0AF0D2-5F4C-4C38-A7FF-0B4675AA3603}"/>
              </a:ext>
            </a:extLst>
          </p:cNvPr>
          <p:cNvSpPr txBox="1"/>
          <p:nvPr/>
        </p:nvSpPr>
        <p:spPr>
          <a:xfrm>
            <a:off x="1767382" y="2958072"/>
            <a:ext cx="6662480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낮은 인허가 리스크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25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8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실시계획인가 및 건축심의 완료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26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사업계획 승인 완료 예정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시공사 리스크 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시공사인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포스코이앤씨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도급순위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7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위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신용등급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A+)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최종 수주심의 완료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도급계약 체결 선행 조건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낮은 토지확보 리스크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소유권 이전 완료 토지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81.48% 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으로 소유권 확보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협의 완료 및 국공유지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12.48%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수용 예정 토지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6.04% 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실행 후 바로 수용 신청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개월 이내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수용권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확보 예정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41E9084-F64A-4CCB-9E24-CCECAF57FBE0}"/>
              </a:ext>
            </a:extLst>
          </p:cNvPr>
          <p:cNvGrpSpPr/>
          <p:nvPr/>
        </p:nvGrpSpPr>
        <p:grpSpPr>
          <a:xfrm>
            <a:off x="3060136" y="2301790"/>
            <a:ext cx="3507352" cy="369332"/>
            <a:chOff x="3444233" y="2876563"/>
            <a:chExt cx="3507352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03A4DD-9329-4E19-80B3-AB518AED9DF7}"/>
                </a:ext>
              </a:extLst>
            </p:cNvPr>
            <p:cNvSpPr txBox="1"/>
            <p:nvPr/>
          </p:nvSpPr>
          <p:spPr>
            <a:xfrm>
              <a:off x="3877044" y="2950734"/>
              <a:ext cx="307454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높은 </a:t>
              </a:r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PF </a:t>
              </a:r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가능성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id="{736FA01C-D892-4AFA-A43A-F340517E9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3" y="2876563"/>
              <a:ext cx="432811" cy="369332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5385EFC-6D1F-4C8B-9E55-DCEF4C3B0A0D}"/>
              </a:ext>
            </a:extLst>
          </p:cNvPr>
          <p:cNvGrpSpPr/>
          <p:nvPr/>
        </p:nvGrpSpPr>
        <p:grpSpPr>
          <a:xfrm>
            <a:off x="3210179" y="765094"/>
            <a:ext cx="3149195" cy="369812"/>
            <a:chOff x="3444234" y="1021819"/>
            <a:chExt cx="3149195" cy="36981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2D9392-5288-4A54-8C00-DD983086C80D}"/>
                </a:ext>
              </a:extLst>
            </p:cNvPr>
            <p:cNvSpPr txBox="1"/>
            <p:nvPr/>
          </p:nvSpPr>
          <p:spPr>
            <a:xfrm>
              <a:off x="3877045" y="1114632"/>
              <a:ext cx="27163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Executive Summary</a:t>
              </a:r>
            </a:p>
          </p:txBody>
        </p:sp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CDA099DD-A4B4-41B6-875F-6FC47D0AE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4" y="1021819"/>
              <a:ext cx="432811" cy="369332"/>
            </a:xfrm>
            <a:prstGeom prst="rect">
              <a:avLst/>
            </a:prstGeom>
          </p:spPr>
        </p:pic>
      </p:grpSp>
      <p:sp>
        <p:nvSpPr>
          <p:cNvPr id="6" name="육각형 5">
            <a:extLst>
              <a:ext uri="{FF2B5EF4-FFF2-40B4-BE49-F238E27FC236}">
                <a16:creationId xmlns:a16="http://schemas.microsoft.com/office/drawing/2014/main" id="{FA022E6C-0D6F-491B-9045-753EBB067A7C}"/>
              </a:ext>
            </a:extLst>
          </p:cNvPr>
          <p:cNvSpPr/>
          <p:nvPr/>
        </p:nvSpPr>
        <p:spPr>
          <a:xfrm>
            <a:off x="1187918" y="1436792"/>
            <a:ext cx="7530164" cy="579610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육각형 17">
            <a:extLst>
              <a:ext uri="{FF2B5EF4-FFF2-40B4-BE49-F238E27FC236}">
                <a16:creationId xmlns:a16="http://schemas.microsoft.com/office/drawing/2014/main" id="{248C9E92-D4B6-44A0-A5CC-0DC8126C63FD}"/>
              </a:ext>
            </a:extLst>
          </p:cNvPr>
          <p:cNvSpPr/>
          <p:nvPr/>
        </p:nvSpPr>
        <p:spPr>
          <a:xfrm>
            <a:off x="1323500" y="1412280"/>
            <a:ext cx="7258999" cy="627709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4ECF91-BE5D-49F6-80F0-6708354EDBCC}"/>
              </a:ext>
            </a:extLst>
          </p:cNvPr>
          <p:cNvSpPr txBox="1"/>
          <p:nvPr/>
        </p:nvSpPr>
        <p:spPr>
          <a:xfrm>
            <a:off x="1614745" y="1466674"/>
            <a:ext cx="6967754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사업은 충청남도 천안시 </a:t>
            </a:r>
            <a:r>
              <a:rPr lang="ko-KR" alt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서북구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부대동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354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번지 일원에 진행하는 천안 부성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지구 도시개발사업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미확보 필지 수용재결 절차 진행을 위한 토지 소유권 확보를 위한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 대출 중  </a:t>
            </a:r>
            <a:r>
              <a:rPr lang="en-US" altLang="ko-K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Tr.B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를 기초자산으로 사모사채를 발행하는 건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A59169B-13B4-44DC-8D9C-CD28E9943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317" y="181668"/>
            <a:ext cx="2716384" cy="213076"/>
          </a:xfrm>
          <a:prstGeom prst="rect">
            <a:avLst/>
          </a:prstGeom>
        </p:spPr>
      </p:pic>
      <p:sp>
        <p:nvSpPr>
          <p:cNvPr id="41" name="슬라이드 번호 개체 틀 1">
            <a:extLst>
              <a:ext uri="{FF2B5EF4-FFF2-40B4-BE49-F238E27FC236}">
                <a16:creationId xmlns:a16="http://schemas.microsoft.com/office/drawing/2014/main" id="{D7F47276-D647-49EF-BF3D-158D5D8E2650}"/>
              </a:ext>
            </a:extLst>
          </p:cNvPr>
          <p:cNvSpPr txBox="1">
            <a:spLocks/>
          </p:cNvSpPr>
          <p:nvPr/>
        </p:nvSpPr>
        <p:spPr>
          <a:xfrm>
            <a:off x="6669088" y="6605754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3A57096-21A8-44ED-AF94-8A259496D2BE}" type="slidenum">
              <a:rPr lang="en-US" altLang="en-US" b="1" smtClean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2</a:t>
            </a:fld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sp>
        <p:nvSpPr>
          <p:cNvPr id="42" name="슬라이드 번호 개체 틀 1">
            <a:extLst>
              <a:ext uri="{FF2B5EF4-FFF2-40B4-BE49-F238E27FC236}">
                <a16:creationId xmlns:a16="http://schemas.microsoft.com/office/drawing/2014/main" id="{FAB241E8-8D34-4664-B472-B4C5D1B7229A}"/>
              </a:ext>
            </a:extLst>
          </p:cNvPr>
          <p:cNvSpPr txBox="1">
            <a:spLocks/>
          </p:cNvSpPr>
          <p:nvPr/>
        </p:nvSpPr>
        <p:spPr>
          <a:xfrm>
            <a:off x="0" y="6605755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신도림역 </a:t>
            </a:r>
            <a:r>
              <a:rPr lang="ko-KR" altLang="en-US" b="1" dirty="0" err="1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디큐브시티</a:t>
            </a: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복합시설 </a:t>
            </a:r>
            <a:r>
              <a:rPr lang="ko-KR" altLang="en-US" b="1" dirty="0" err="1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리모델링사업</a:t>
            </a: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담보대출</a:t>
            </a:r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sp>
        <p:nvSpPr>
          <p:cNvPr id="49" name="육각형 48">
            <a:extLst>
              <a:ext uri="{FF2B5EF4-FFF2-40B4-BE49-F238E27FC236}">
                <a16:creationId xmlns:a16="http://schemas.microsoft.com/office/drawing/2014/main" id="{239993E1-0C01-4E17-BE0A-BC1644DFAC08}"/>
              </a:ext>
            </a:extLst>
          </p:cNvPr>
          <p:cNvSpPr/>
          <p:nvPr/>
        </p:nvSpPr>
        <p:spPr>
          <a:xfrm>
            <a:off x="1191472" y="5738998"/>
            <a:ext cx="7530164" cy="432987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육각형 49">
            <a:extLst>
              <a:ext uri="{FF2B5EF4-FFF2-40B4-BE49-F238E27FC236}">
                <a16:creationId xmlns:a16="http://schemas.microsoft.com/office/drawing/2014/main" id="{A136C212-8876-4D18-8018-0CA3ADCF5B1E}"/>
              </a:ext>
            </a:extLst>
          </p:cNvPr>
          <p:cNvSpPr/>
          <p:nvPr/>
        </p:nvSpPr>
        <p:spPr>
          <a:xfrm>
            <a:off x="1327054" y="5722255"/>
            <a:ext cx="7258999" cy="471246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C8C1A4-BCFC-4519-AD02-88CF579F3C27}"/>
              </a:ext>
            </a:extLst>
          </p:cNvPr>
          <p:cNvSpPr txBox="1"/>
          <p:nvPr/>
        </p:nvSpPr>
        <p:spPr>
          <a:xfrm>
            <a:off x="1618299" y="5870351"/>
            <a:ext cx="634006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만기 발행일로부터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6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개월 만기로 짧은 만기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92067F2-0826-4410-BEEC-2D631A516F41}"/>
              </a:ext>
            </a:extLst>
          </p:cNvPr>
          <p:cNvGrpSpPr/>
          <p:nvPr/>
        </p:nvGrpSpPr>
        <p:grpSpPr>
          <a:xfrm>
            <a:off x="3426583" y="5021994"/>
            <a:ext cx="2723494" cy="369332"/>
            <a:chOff x="3444233" y="2876563"/>
            <a:chExt cx="2723494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12047FC-63B7-4BC0-B5EC-40D9E992134B}"/>
                </a:ext>
              </a:extLst>
            </p:cNvPr>
            <p:cNvSpPr txBox="1"/>
            <p:nvPr/>
          </p:nvSpPr>
          <p:spPr>
            <a:xfrm>
              <a:off x="3877044" y="2950734"/>
              <a:ext cx="229068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짧은 만기 상품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54" name="Picture 5">
              <a:extLst>
                <a:ext uri="{FF2B5EF4-FFF2-40B4-BE49-F238E27FC236}">
                  <a16:creationId xmlns:a16="http://schemas.microsoft.com/office/drawing/2014/main" id="{CAEB3C60-2F1E-4039-A31C-C034B34DB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3" y="2876563"/>
              <a:ext cx="432811" cy="369332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68CC97FC-1B27-4C77-821C-2DCDF26B9D39}"/>
              </a:ext>
            </a:extLst>
          </p:cNvPr>
          <p:cNvSpPr txBox="1"/>
          <p:nvPr/>
        </p:nvSpPr>
        <p:spPr>
          <a:xfrm>
            <a:off x="2447898" y="5452969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F20FE-E664-4607-AC8A-AF0D51E98894}"/>
              </a:ext>
            </a:extLst>
          </p:cNvPr>
          <p:cNvSpPr txBox="1"/>
          <p:nvPr/>
        </p:nvSpPr>
        <p:spPr>
          <a:xfrm>
            <a:off x="2447899" y="1131575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734C14-F0F2-4C3A-98BB-CACF41BA612B}"/>
              </a:ext>
            </a:extLst>
          </p:cNvPr>
          <p:cNvSpPr txBox="1"/>
          <p:nvPr/>
        </p:nvSpPr>
        <p:spPr>
          <a:xfrm>
            <a:off x="2447899" y="2638009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684979" y="2203347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2684979" y="4599713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397222" y="2182378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6397222" y="4578744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3081285" y="2511124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3126851" y="493165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투자구조도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기초자산 금융조건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6871314" y="2534217"/>
            <a:ext cx="1926353" cy="5309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6865578" y="4896994"/>
            <a:ext cx="633379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2D6AC7F-9894-4E25-9A29-28AB65CB68EE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E48C7CEE-BAA1-4AFE-82FB-E5CA4A3B2AD6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8D849133-720F-4AE4-8EBB-2BC27CE74F50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24" name="Freeform 28">
                <a:extLst>
                  <a:ext uri="{FF2B5EF4-FFF2-40B4-BE49-F238E27FC236}">
                    <a16:creationId xmlns:a16="http://schemas.microsoft.com/office/drawing/2014/main" id="{2CFCDE1C-A8C3-4EBC-83A3-99AD7CB41A4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9">
                <a:extLst>
                  <a:ext uri="{FF2B5EF4-FFF2-40B4-BE49-F238E27FC236}">
                    <a16:creationId xmlns:a16="http://schemas.microsoft.com/office/drawing/2014/main" id="{0B38D8D4-BE29-4E41-99B3-9B543D37881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/>
              </a:p>
            </p:txBody>
          </p:sp>
        </p:grp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E8EC7D96-457E-497A-B700-2ED7081D2326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5C226EE5-97BC-44A8-AFC3-45859143DD85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7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515682" y="2291420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4771848" y="2281895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934154" y="2193943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251443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2904148" y="2618347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5201176" y="262360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투자 구조도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기초자산 금융조건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7368516" y="2543965"/>
            <a:ext cx="764825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2943059" y="4651559"/>
            <a:ext cx="633379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4.1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C91072-6AEE-4C03-BC7F-A890C9321A47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28A15163-1941-41DA-86EC-260AA91A6E43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54" name="Group 27">
              <a:extLst>
                <a:ext uri="{FF2B5EF4-FFF2-40B4-BE49-F238E27FC236}">
                  <a16:creationId xmlns:a16="http://schemas.microsoft.com/office/drawing/2014/main" id="{73E3FFAB-C0EA-4830-A4E8-4AEEADB58814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55" name="Freeform 28">
                <a:extLst>
                  <a:ext uri="{FF2B5EF4-FFF2-40B4-BE49-F238E27FC236}">
                    <a16:creationId xmlns:a16="http://schemas.microsoft.com/office/drawing/2014/main" id="{2F1C62CB-D090-4728-A13F-E198779CCB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6" name="TextBox 29">
                <a:extLst>
                  <a:ext uri="{FF2B5EF4-FFF2-40B4-BE49-F238E27FC236}">
                    <a16:creationId xmlns:a16="http://schemas.microsoft.com/office/drawing/2014/main" id="{584FEC31-5AA0-4A82-BB69-B6D2DF8AD95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/>
              </a:p>
            </p:txBody>
          </p:sp>
        </p:grp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74D6FA4D-E67D-4CDA-B453-21C414F80EA1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2AFDFC-B3D4-4F58-AC03-292C00DBB9AD}"/>
              </a:ext>
            </a:extLst>
          </p:cNvPr>
          <p:cNvSpPr txBox="1"/>
          <p:nvPr/>
        </p:nvSpPr>
        <p:spPr>
          <a:xfrm>
            <a:off x="472144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05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제목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43EE5-6A16-416E-BFE3-090CF8B45BD2}"/>
              </a:ext>
            </a:extLst>
          </p:cNvPr>
          <p:cNvSpPr txBox="1"/>
          <p:nvPr/>
        </p:nvSpPr>
        <p:spPr>
          <a:xfrm>
            <a:off x="5150069" y="4651559"/>
            <a:ext cx="630173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5.1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1F41B9F-3F37-45F4-BD59-25A29290BCF1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77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980A85A-E26B-499D-917A-7A1FBA6E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265187D-4FEE-459D-88AD-AD8F2F3CC016}"/>
              </a:ext>
            </a:extLst>
          </p:cNvPr>
          <p:cNvGrpSpPr/>
          <p:nvPr/>
        </p:nvGrpSpPr>
        <p:grpSpPr>
          <a:xfrm>
            <a:off x="1271800" y="3565688"/>
            <a:ext cx="2228799" cy="338554"/>
            <a:chOff x="1450226" y="3100952"/>
            <a:chExt cx="2228799" cy="33855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65C9E3-74F0-4799-B694-AD75DD9D024F}"/>
                </a:ext>
              </a:extLst>
            </p:cNvPr>
            <p:cNvSpPr txBox="1"/>
            <p:nvPr/>
          </p:nvSpPr>
          <p:spPr>
            <a:xfrm>
              <a:off x="1952270" y="3100952"/>
              <a:ext cx="17267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본건 사모사채</a:t>
              </a:r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</a:t>
              </a:r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개요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6534D3-E6A9-4DD9-8FB9-1C6CDC2E254A}"/>
                </a:ext>
              </a:extLst>
            </p:cNvPr>
            <p:cNvSpPr txBox="1"/>
            <p:nvPr/>
          </p:nvSpPr>
          <p:spPr>
            <a:xfrm>
              <a:off x="1450226" y="3100952"/>
              <a:ext cx="4061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1.1</a:t>
              </a:r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EC3BE9A4-2108-40FA-A75C-0E2A5E8BDAE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B12FD72-5164-4E83-84EC-9AFB7C02874F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F74AEA9-95AD-4FC6-BE8D-E471F1DAAAB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81E6EE-BE3B-41CD-8EE7-815D58071242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267841C-0786-4ADF-9D01-3C5706666DDE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98153E9-F9DA-4B46-A2AF-7E0BA1BE16F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79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3D2529-4B5E-4BB1-874F-74A18E4A14AB}"/>
              </a:ext>
            </a:extLst>
          </p:cNvPr>
          <p:cNvGrpSpPr/>
          <p:nvPr/>
        </p:nvGrpSpPr>
        <p:grpSpPr>
          <a:xfrm>
            <a:off x="1250367" y="3714899"/>
            <a:ext cx="2637565" cy="338554"/>
            <a:chOff x="1450226" y="3100952"/>
            <a:chExt cx="2637565" cy="3385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35E2EC-3527-4479-8558-2C304504BDA4}"/>
                </a:ext>
              </a:extLst>
            </p:cNvPr>
            <p:cNvSpPr txBox="1"/>
            <p:nvPr/>
          </p:nvSpPr>
          <p:spPr>
            <a:xfrm>
              <a:off x="1952270" y="3100952"/>
              <a:ext cx="21355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본건 기초자산 금융조건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48BE46-5DDC-429C-85F2-0478C7231F9E}"/>
                </a:ext>
              </a:extLst>
            </p:cNvPr>
            <p:cNvSpPr txBox="1"/>
            <p:nvPr/>
          </p:nvSpPr>
          <p:spPr>
            <a:xfrm>
              <a:off x="1450226" y="3100952"/>
              <a:ext cx="4700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2.2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65EA7F1-5BE2-4AA4-BF5D-760454B31681}"/>
              </a:ext>
            </a:extLst>
          </p:cNvPr>
          <p:cNvGrpSpPr/>
          <p:nvPr/>
        </p:nvGrpSpPr>
        <p:grpSpPr>
          <a:xfrm>
            <a:off x="1271800" y="3420705"/>
            <a:ext cx="2047660" cy="338554"/>
            <a:chOff x="1450226" y="3100952"/>
            <a:chExt cx="2047660" cy="33855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4DC45F-2CB3-4D8D-8487-FE129CFA61E7}"/>
                </a:ext>
              </a:extLst>
            </p:cNvPr>
            <p:cNvSpPr txBox="1"/>
            <p:nvPr/>
          </p:nvSpPr>
          <p:spPr>
            <a:xfrm>
              <a:off x="1952270" y="3100952"/>
              <a:ext cx="15456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금융 투자 구조도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C0D8AF-B505-4A37-8FB4-4EBE203332E7}"/>
                </a:ext>
              </a:extLst>
            </p:cNvPr>
            <p:cNvSpPr txBox="1"/>
            <p:nvPr/>
          </p:nvSpPr>
          <p:spPr>
            <a:xfrm>
              <a:off x="1450226" y="3100952"/>
              <a:ext cx="4349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2.1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1667" y="280454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F10BF00-5AEE-4A58-B5EF-DF56AEEA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74530055-36A6-42BF-A7EE-327406798C17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1FBEACD-23F4-4B4B-ACD2-3842D0037E57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0CE2F4D-781B-4555-AC10-1087A86260EE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870C148-AE9E-46FC-89CB-D79F3AEDC0E6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D5F13AF-3C30-47CF-BDEC-1865B89B430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EDA21D-7F71-4545-8731-8D306B9098F5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5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C09D19D-CA50-430E-85B5-00C309F8E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8728A0F9-9485-4B2B-9C49-2ED3C0EAC96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DAED8D2-CF0B-43DF-9501-2403FD23977C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8FBC9A9-5B48-4C3F-9805-529CC43DEC0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5C8F8B0-58B3-422C-ADCD-6FD3E5E593F5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C997C7B-70B2-4B3B-A9EC-97E07DEBFC1D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A09F73B-712F-468F-8809-9B97F03B9E1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190FE-0EAC-4337-BAD5-C332EB9AF690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사업개요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FE0CA57-EFBB-4F40-8326-535B0FA79A61}"/>
              </a:ext>
            </a:extLst>
          </p:cNvPr>
          <p:cNvGrpSpPr/>
          <p:nvPr/>
        </p:nvGrpSpPr>
        <p:grpSpPr>
          <a:xfrm>
            <a:off x="1271800" y="3565688"/>
            <a:ext cx="1230128" cy="338554"/>
            <a:chOff x="1450226" y="3100952"/>
            <a:chExt cx="1230128" cy="33855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F495D4-9972-404F-9D3E-F73E8DA71BE2}"/>
                </a:ext>
              </a:extLst>
            </p:cNvPr>
            <p:cNvSpPr txBox="1"/>
            <p:nvPr/>
          </p:nvSpPr>
          <p:spPr>
            <a:xfrm>
              <a:off x="1952270" y="3100952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소제목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A10526-2E09-44A0-852F-E8235DCB4DCB}"/>
                </a:ext>
              </a:extLst>
            </p:cNvPr>
            <p:cNvSpPr txBox="1"/>
            <p:nvPr/>
          </p:nvSpPr>
          <p:spPr>
            <a:xfrm>
              <a:off x="1450226" y="3100952"/>
              <a:ext cx="4398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3.1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223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D57231-2B6A-43DF-9ED0-FB2FB86E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892442E4-BA68-419D-944D-0E981AEF998B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B56E101-BCBD-40A4-99F5-D2FDC42CA5A3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A3FD978-F67F-4F41-A996-C9D3FB06FE38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442E925-D1CF-4E49-8E1A-6BE23EF6B1EB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9DF0422-9C1C-4D6E-84D9-B33AD0834E5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801DFB0-65D4-4FF3-A4CD-523E0B863A92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5F2CF36-38A3-4A79-B832-57FCCC1929A4}"/>
              </a:ext>
            </a:extLst>
          </p:cNvPr>
          <p:cNvGrpSpPr/>
          <p:nvPr/>
        </p:nvGrpSpPr>
        <p:grpSpPr>
          <a:xfrm>
            <a:off x="1271800" y="3565688"/>
            <a:ext cx="1230128" cy="338554"/>
            <a:chOff x="1450226" y="3100952"/>
            <a:chExt cx="1230128" cy="33855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28E92-72BA-4563-8F91-92E4C2566D9F}"/>
                </a:ext>
              </a:extLst>
            </p:cNvPr>
            <p:cNvSpPr txBox="1"/>
            <p:nvPr/>
          </p:nvSpPr>
          <p:spPr>
            <a:xfrm>
              <a:off x="1952270" y="3100952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소제목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99673F-CDEE-4E43-92EC-AB5BC385E734}"/>
                </a:ext>
              </a:extLst>
            </p:cNvPr>
            <p:cNvSpPr txBox="1"/>
            <p:nvPr/>
          </p:nvSpPr>
          <p:spPr>
            <a:xfrm>
              <a:off x="1450226" y="3100952"/>
              <a:ext cx="4446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4.1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0C7AD87-666B-4DF0-B421-61A74BB13515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08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제목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소제목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페이지 요약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7C2A9A1C-92B7-4856-B43A-49BFF81DD5F8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9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7ED05E1-E27D-42FC-A1B1-9161FF087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0" t="31255" r="16174" b="4273"/>
          <a:stretch/>
        </p:blipFill>
        <p:spPr>
          <a:xfrm>
            <a:off x="0" y="-1"/>
            <a:ext cx="9906000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78EBF-6031-4786-87A6-759A81DCD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9118" indent="-219118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88A03B-A403-4E01-9951-EE88BCB4C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86318"/>
              </p:ext>
            </p:extLst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2E3653A-1EF8-4176-AE78-824C7DB17F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4" t="13244" r="18493" b="20606"/>
          <a:stretch/>
        </p:blipFill>
        <p:spPr>
          <a:xfrm>
            <a:off x="3276600" y="1356361"/>
            <a:ext cx="3352800" cy="337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11097</TotalTime>
  <Words>423</Words>
  <Application>Microsoft Office PowerPoint</Application>
  <PresentationFormat>A4 용지(210x297mm)</PresentationFormat>
  <Paragraphs>88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Montserrat Bold</vt:lpstr>
      <vt:lpstr>맑은 고딕</vt:lpstr>
      <vt:lpstr>Batang</vt:lpstr>
      <vt:lpstr>피플폰트 Bold</vt:lpstr>
      <vt:lpstr>피플폰트 Light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1245</cp:revision>
  <cp:lastPrinted>2026-03-06T05:58:23Z</cp:lastPrinted>
  <dcterms:created xsi:type="dcterms:W3CDTF">2026-02-10T06:23:32Z</dcterms:created>
  <dcterms:modified xsi:type="dcterms:W3CDTF">2026-07-21T07:34:57Z</dcterms:modified>
</cp:coreProperties>
</file>