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62" r:id="rId2"/>
    <p:sldId id="269" r:id="rId3"/>
    <p:sldId id="507" r:id="rId4"/>
    <p:sldId id="270" r:id="rId5"/>
    <p:sldId id="271" r:id="rId6"/>
    <p:sldId id="303" r:id="rId7"/>
    <p:sldId id="304" r:id="rId8"/>
    <p:sldId id="328" r:id="rId9"/>
    <p:sldId id="506" r:id="rId10"/>
    <p:sldId id="305" r:id="rId11"/>
    <p:sldId id="312" r:id="rId12"/>
  </p:sldIdLst>
  <p:sldSz cx="9906000" cy="6858000" type="A4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4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95BE"/>
    <a:srgbClr val="08377C"/>
    <a:srgbClr val="595959"/>
    <a:srgbClr val="0063A1"/>
    <a:srgbClr val="8C4A59"/>
    <a:srgbClr val="D9D9D9"/>
    <a:srgbClr val="F2F2F2"/>
    <a:srgbClr val="A4ABBD"/>
    <a:srgbClr val="A5A5A5"/>
    <a:srgbClr val="6AA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7" autoAdjust="0"/>
    <p:restoredTop sz="93046" autoAdjust="0"/>
  </p:normalViewPr>
  <p:slideViewPr>
    <p:cSldViewPr snapToGrid="0">
      <p:cViewPr varScale="1">
        <p:scale>
          <a:sx n="105" d="100"/>
          <a:sy n="105" d="100"/>
        </p:scale>
        <p:origin x="1884" y="114"/>
      </p:cViewPr>
      <p:guideLst>
        <p:guide orient="horz" pos="2160"/>
        <p:guide pos="3143"/>
      </p:guideLst>
    </p:cSldViewPr>
  </p:slideViewPr>
  <p:outlineViewPr>
    <p:cViewPr>
      <p:scale>
        <a:sx n="33" d="100"/>
        <a:sy n="33" d="100"/>
      </p:scale>
      <p:origin x="0" y="-666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131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B0CBE-BEF5-4768-88B7-C8D33A226F82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66EBDD-C751-45FE-A110-B7B11DBE49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871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66EBDD-C751-45FE-A110-B7B11DBE494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54966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093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59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371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335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677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051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044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697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245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302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343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텍스트 개체 틀 24">
            <a:extLst>
              <a:ext uri="{FF2B5EF4-FFF2-40B4-BE49-F238E27FC236}">
                <a16:creationId xmlns:a16="http://schemas.microsoft.com/office/drawing/2014/main" id="{02658A97-D488-4F93-9E61-95521370458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3700" y="397926"/>
            <a:ext cx="3228975" cy="198437"/>
          </a:xfrm>
        </p:spPr>
        <p:txBody>
          <a:bodyPr lIns="0" tIns="72000" rIns="0" bIns="0" anchor="ctr">
            <a:normAutofit/>
          </a:bodyPr>
          <a:lstStyle>
            <a:lvl1pPr marL="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챕터명을 입력</a:t>
            </a:r>
          </a:p>
        </p:txBody>
      </p:sp>
      <p:sp>
        <p:nvSpPr>
          <p:cNvPr id="26" name="텍스트 개체 틀 24">
            <a:extLst>
              <a:ext uri="{FF2B5EF4-FFF2-40B4-BE49-F238E27FC236}">
                <a16:creationId xmlns:a16="http://schemas.microsoft.com/office/drawing/2014/main" id="{A14A10F8-1FAF-4934-8322-2E8649EE6B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700" y="588702"/>
            <a:ext cx="3228975" cy="265509"/>
          </a:xfrm>
        </p:spPr>
        <p:txBody>
          <a:bodyPr lIns="0" tIns="36000" rIns="0" bIns="0" anchor="ctr">
            <a:noAutofit/>
          </a:bodyPr>
          <a:lstStyle>
            <a:lvl1pPr marL="0" indent="0">
              <a:buNone/>
              <a:defRPr sz="1400">
                <a:solidFill>
                  <a:srgbClr val="002548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ko-KR" altLang="en-US" dirty="0"/>
              <a:t>소제목을 입력</a:t>
            </a:r>
          </a:p>
        </p:txBody>
      </p:sp>
      <p:sp>
        <p:nvSpPr>
          <p:cNvPr id="27" name="텍스트 개체 틀 24">
            <a:extLst>
              <a:ext uri="{FF2B5EF4-FFF2-40B4-BE49-F238E27FC236}">
                <a16:creationId xmlns:a16="http://schemas.microsoft.com/office/drawing/2014/main" id="{133F99F5-21F0-469A-B7BC-918EAA068CE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3699" y="795364"/>
            <a:ext cx="7912100" cy="308931"/>
          </a:xfrm>
        </p:spPr>
        <p:txBody>
          <a:bodyPr wrap="square" lIns="0" tIns="0" rIns="0" bIns="0" anchor="ctr">
            <a:sp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defRPr>
            </a:lvl1pPr>
          </a:lstStyle>
          <a:p>
            <a:pPr lvl="0"/>
            <a:r>
              <a:rPr lang="ko-KR" altLang="en-US" dirty="0"/>
              <a:t>헤드메시지를 입력</a:t>
            </a:r>
            <a:br>
              <a:rPr lang="en-US" altLang="ko-KR" dirty="0"/>
            </a:br>
            <a:r>
              <a:rPr lang="ko-KR" altLang="en-US" dirty="0" err="1"/>
              <a:t>엔터는</a:t>
            </a:r>
            <a:r>
              <a:rPr lang="ko-KR" altLang="en-US" dirty="0"/>
              <a:t> 시프트 </a:t>
            </a:r>
            <a:r>
              <a:rPr lang="ko-KR" altLang="en-US" dirty="0" err="1"/>
              <a:t>엔터로</a:t>
            </a:r>
            <a:endParaRPr lang="en-US" altLang="ko-KR" dirty="0"/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A0C9A8AA-7590-4D3D-8DDD-97CDAA2046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3838575" y="6558727"/>
            <a:ext cx="2228850" cy="227169"/>
          </a:xfrm>
        </p:spPr>
        <p:txBody>
          <a:bodyPr rIns="0"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fld id="{F3A57096-21A8-44ED-AF94-8A259496D2B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D25C252-E7DD-6B3E-3A2A-FF4DD42D7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3868" y="183222"/>
            <a:ext cx="2723863" cy="217735"/>
          </a:xfrm>
          <a:prstGeom prst="rect">
            <a:avLst/>
          </a:prstGeom>
        </p:spPr>
      </p:pic>
      <p:sp>
        <p:nvSpPr>
          <p:cNvPr id="8" name="직각 삼각형 7">
            <a:extLst>
              <a:ext uri="{FF2B5EF4-FFF2-40B4-BE49-F238E27FC236}">
                <a16:creationId xmlns:a16="http://schemas.microsoft.com/office/drawing/2014/main" id="{C1755CCF-F143-4C0B-BF11-9423A72FAB19}"/>
              </a:ext>
            </a:extLst>
          </p:cNvPr>
          <p:cNvSpPr/>
          <p:nvPr userDrawn="1"/>
        </p:nvSpPr>
        <p:spPr>
          <a:xfrm flipV="1">
            <a:off x="0" y="-1"/>
            <a:ext cx="338433" cy="335952"/>
          </a:xfrm>
          <a:prstGeom prst="rtTriangle">
            <a:avLst/>
          </a:prstGeom>
          <a:solidFill>
            <a:srgbClr val="0837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각 삼각형 8">
            <a:extLst>
              <a:ext uri="{FF2B5EF4-FFF2-40B4-BE49-F238E27FC236}">
                <a16:creationId xmlns:a16="http://schemas.microsoft.com/office/drawing/2014/main" id="{0C48AF91-12B6-4BD4-A640-497CC16E1DE1}"/>
              </a:ext>
            </a:extLst>
          </p:cNvPr>
          <p:cNvSpPr/>
          <p:nvPr userDrawn="1"/>
        </p:nvSpPr>
        <p:spPr>
          <a:xfrm flipV="1">
            <a:off x="0" y="335951"/>
            <a:ext cx="338433" cy="335951"/>
          </a:xfrm>
          <a:prstGeom prst="rtTriangle">
            <a:avLst/>
          </a:prstGeom>
          <a:solidFill>
            <a:srgbClr val="3E95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각 삼각형 9">
            <a:extLst>
              <a:ext uri="{FF2B5EF4-FFF2-40B4-BE49-F238E27FC236}">
                <a16:creationId xmlns:a16="http://schemas.microsoft.com/office/drawing/2014/main" id="{0388EC82-92ED-4BEE-A296-BE507F4E348F}"/>
              </a:ext>
            </a:extLst>
          </p:cNvPr>
          <p:cNvSpPr/>
          <p:nvPr userDrawn="1"/>
        </p:nvSpPr>
        <p:spPr>
          <a:xfrm flipV="1">
            <a:off x="338433" y="0"/>
            <a:ext cx="338433" cy="335951"/>
          </a:xfrm>
          <a:prstGeom prst="rtTriangle">
            <a:avLst/>
          </a:prstGeom>
          <a:solidFill>
            <a:srgbClr val="006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728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5759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object 5">
            <a:extLst>
              <a:ext uri="{FF2B5EF4-FFF2-40B4-BE49-F238E27FC236}">
                <a16:creationId xmlns:a16="http://schemas.microsoft.com/office/drawing/2014/main" id="{61868E28-E971-4418-87EB-1ADB07E11B0C}"/>
              </a:ext>
            </a:extLst>
          </p:cNvPr>
          <p:cNvPicPr/>
          <p:nvPr/>
        </p:nvPicPr>
        <p:blipFill rotWithShape="1">
          <a:blip r:embed="rId3" cstate="print"/>
          <a:srcRect l="24516" r="21443"/>
          <a:stretch/>
        </p:blipFill>
        <p:spPr>
          <a:xfrm>
            <a:off x="5395457" y="0"/>
            <a:ext cx="4510544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E98FC17-E489-49A1-A969-074DB6C0BB06}"/>
              </a:ext>
            </a:extLst>
          </p:cNvPr>
          <p:cNvSpPr txBox="1"/>
          <p:nvPr/>
        </p:nvSpPr>
        <p:spPr>
          <a:xfrm>
            <a:off x="614372" y="2841077"/>
            <a:ext cx="4648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사업명</a:t>
            </a:r>
            <a:r>
              <a:rPr lang="en-US" altLang="ko-KR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r>
              <a:rPr lang="ko-KR" altLang="en-US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제안서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7705E13-BD77-4F42-A08E-A222D687E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1" y="54905"/>
            <a:ext cx="907166" cy="19372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A39E339-B0D3-4404-96E1-2A662EE44842}"/>
              </a:ext>
            </a:extLst>
          </p:cNvPr>
          <p:cNvSpPr txBox="1"/>
          <p:nvPr/>
        </p:nvSpPr>
        <p:spPr>
          <a:xfrm>
            <a:off x="614372" y="3511918"/>
            <a:ext cx="43622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몇월</a:t>
            </a:r>
            <a:r>
              <a:rPr lang="en-US" altLang="ko-KR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영어 표시</a:t>
            </a:r>
            <a:r>
              <a:rPr lang="en-US" altLang="ko-KR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) </a:t>
            </a:r>
            <a:r>
              <a:rPr lang="ko-KR" altLang="en-US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그해 년도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961EC1-6423-43C9-9D21-741DEB5453F7}"/>
              </a:ext>
            </a:extLst>
          </p:cNvPr>
          <p:cNvSpPr txBox="1"/>
          <p:nvPr/>
        </p:nvSpPr>
        <p:spPr>
          <a:xfrm>
            <a:off x="617034" y="2631106"/>
            <a:ext cx="37539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Information Memorandum</a:t>
            </a:r>
            <a:endParaRPr lang="ko-KR" altLang="en-US" sz="1100" dirty="0">
              <a:solidFill>
                <a:schemeClr val="bg1">
                  <a:lumMod val="6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60FC662-314C-4BDA-BD07-C0305AAF55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618" y="2372165"/>
            <a:ext cx="2665584" cy="21307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85BE55E-748C-4C4C-B871-BF424F682E6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43"/>
          <a:stretch/>
        </p:blipFill>
        <p:spPr>
          <a:xfrm>
            <a:off x="5015859" y="0"/>
            <a:ext cx="1038313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01DDD2D-8608-4BD7-9382-8E84A1BC90CC}"/>
              </a:ext>
            </a:extLst>
          </p:cNvPr>
          <p:cNvSpPr/>
          <p:nvPr/>
        </p:nvSpPr>
        <p:spPr>
          <a:xfrm>
            <a:off x="614372" y="5415975"/>
            <a:ext cx="4655311" cy="1173302"/>
          </a:xfrm>
          <a:prstGeom prst="rect">
            <a:avLst/>
          </a:prstGeom>
          <a:noFill/>
          <a:ln w="952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b="1" dirty="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[Disclaimer]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이 문서는 법적 구속력이 없으며 금융기관의 여신심사 과정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금융약정 체결을 위한 검토과정 등 향후 사정에 따라 사전 통지 없이 변경될 수 있고 실제로 이루어질 거래의 내용이나 구조와 상이할 수 있습니다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.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당사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)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는 본 금융조건에 대하여 최대한 정확하고 완전한 정보를 담고자 노력하였으나 이 문서에는 오류 또는 중요정보의 누락이 있을 수 있으며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당사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)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는 정보의 정확성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완전성 및 적정성에 대하여 어떠한 보증도 제공하지 않고 그에 관한 어떠한 의무도 부담하지 않습니다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.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이 문서는 당사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)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의 주관을 전제로 한 자금조달을 위하여 작성되었으며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어떠한 경우에도 금융투자상품의 매수의 청약 권유 또는 매도의 청약으로 해석될 수 없고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귀사 이외의 제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3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자에게 제공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공개 또는 유출되어서는 안됩니다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.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0786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육각형 31">
            <a:extLst>
              <a:ext uri="{FF2B5EF4-FFF2-40B4-BE49-F238E27FC236}">
                <a16:creationId xmlns:a16="http://schemas.microsoft.com/office/drawing/2014/main" id="{71BF35C0-FCD1-454B-8AED-CF040E1BE420}"/>
              </a:ext>
            </a:extLst>
          </p:cNvPr>
          <p:cNvSpPr/>
          <p:nvPr/>
        </p:nvSpPr>
        <p:spPr>
          <a:xfrm>
            <a:off x="1187919" y="5211057"/>
            <a:ext cx="7530164" cy="1013176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육각형 32">
            <a:extLst>
              <a:ext uri="{FF2B5EF4-FFF2-40B4-BE49-F238E27FC236}">
                <a16:creationId xmlns:a16="http://schemas.microsoft.com/office/drawing/2014/main" id="{3CDF811D-22A7-4AF6-A899-50A72139B16F}"/>
              </a:ext>
            </a:extLst>
          </p:cNvPr>
          <p:cNvSpPr/>
          <p:nvPr/>
        </p:nvSpPr>
        <p:spPr>
          <a:xfrm>
            <a:off x="1355775" y="5177541"/>
            <a:ext cx="7175041" cy="1092412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25" name="육각형 24">
            <a:extLst>
              <a:ext uri="{FF2B5EF4-FFF2-40B4-BE49-F238E27FC236}">
                <a16:creationId xmlns:a16="http://schemas.microsoft.com/office/drawing/2014/main" id="{34C4331A-3665-4D62-8E3C-7B11E0A556C4}"/>
              </a:ext>
            </a:extLst>
          </p:cNvPr>
          <p:cNvSpPr/>
          <p:nvPr/>
        </p:nvSpPr>
        <p:spPr>
          <a:xfrm>
            <a:off x="1211516" y="3168315"/>
            <a:ext cx="7530164" cy="1013176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육각형 25">
            <a:extLst>
              <a:ext uri="{FF2B5EF4-FFF2-40B4-BE49-F238E27FC236}">
                <a16:creationId xmlns:a16="http://schemas.microsoft.com/office/drawing/2014/main" id="{7BF180A2-A688-40F0-A757-2E6DE480716C}"/>
              </a:ext>
            </a:extLst>
          </p:cNvPr>
          <p:cNvSpPr/>
          <p:nvPr/>
        </p:nvSpPr>
        <p:spPr>
          <a:xfrm>
            <a:off x="1379372" y="3125655"/>
            <a:ext cx="7175041" cy="1092412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0AF0D2-5F4C-4C38-A7FF-0B4675AA3603}"/>
              </a:ext>
            </a:extLst>
          </p:cNvPr>
          <p:cNvSpPr txBox="1"/>
          <p:nvPr/>
        </p:nvSpPr>
        <p:spPr>
          <a:xfrm>
            <a:off x="1790980" y="3191902"/>
            <a:ext cx="6662480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낮은 인허가 리스크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‘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25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8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실시계획인가 및 건축심의 완료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, 26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4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사업계획 승인 완료 예정 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시공사 리스크 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시공사인 </a:t>
            </a:r>
            <a:r>
              <a:rPr lang="ko-KR" altLang="en-US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포스코이앤씨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도급순위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7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위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신용등급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A+)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‘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26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최종 수주심의 완료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도급계약 체결 선행 조건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41E9084-F64A-4CCB-9E24-CCECAF57FBE0}"/>
              </a:ext>
            </a:extLst>
          </p:cNvPr>
          <p:cNvGrpSpPr/>
          <p:nvPr/>
        </p:nvGrpSpPr>
        <p:grpSpPr>
          <a:xfrm>
            <a:off x="3083734" y="2517205"/>
            <a:ext cx="3507352" cy="369332"/>
            <a:chOff x="3444233" y="2876563"/>
            <a:chExt cx="3507352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03A4DD-9329-4E19-80B3-AB518AED9DF7}"/>
                </a:ext>
              </a:extLst>
            </p:cNvPr>
            <p:cNvSpPr txBox="1"/>
            <p:nvPr/>
          </p:nvSpPr>
          <p:spPr>
            <a:xfrm>
              <a:off x="3877044" y="2950734"/>
              <a:ext cx="3074541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높은 </a:t>
              </a:r>
              <a:r>
                <a:rPr lang="en-US" altLang="ko-KR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PF </a:t>
              </a:r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가능성</a:t>
              </a:r>
              <a:endPara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  <p:pic>
          <p:nvPicPr>
            <p:cNvPr id="28" name="Picture 5">
              <a:extLst>
                <a:ext uri="{FF2B5EF4-FFF2-40B4-BE49-F238E27FC236}">
                  <a16:creationId xmlns:a16="http://schemas.microsoft.com/office/drawing/2014/main" id="{736FA01C-D892-4AFA-A43A-F340517E9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44233" y="2876563"/>
              <a:ext cx="432811" cy="369332"/>
            </a:xfrm>
            <a:prstGeom prst="rect">
              <a:avLst/>
            </a:prstGeom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5385EFC-6D1F-4C8B-9E55-DCEF4C3B0A0D}"/>
              </a:ext>
            </a:extLst>
          </p:cNvPr>
          <p:cNvGrpSpPr/>
          <p:nvPr/>
        </p:nvGrpSpPr>
        <p:grpSpPr>
          <a:xfrm>
            <a:off x="3210179" y="765094"/>
            <a:ext cx="3149195" cy="369812"/>
            <a:chOff x="3444234" y="1021819"/>
            <a:chExt cx="3149195" cy="36981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2D9392-5288-4A54-8C00-DD983086C80D}"/>
                </a:ext>
              </a:extLst>
            </p:cNvPr>
            <p:cNvSpPr txBox="1"/>
            <p:nvPr/>
          </p:nvSpPr>
          <p:spPr>
            <a:xfrm>
              <a:off x="3877045" y="1114632"/>
              <a:ext cx="2716384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Executive Summary</a:t>
              </a:r>
            </a:p>
          </p:txBody>
        </p:sp>
        <p:pic>
          <p:nvPicPr>
            <p:cNvPr id="16" name="Picture 5">
              <a:extLst>
                <a:ext uri="{FF2B5EF4-FFF2-40B4-BE49-F238E27FC236}">
                  <a16:creationId xmlns:a16="http://schemas.microsoft.com/office/drawing/2014/main" id="{CDA099DD-A4B4-41B6-875F-6FC47D0AEB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44234" y="1021819"/>
              <a:ext cx="432811" cy="369332"/>
            </a:xfrm>
            <a:prstGeom prst="rect">
              <a:avLst/>
            </a:prstGeom>
          </p:spPr>
        </p:pic>
      </p:grpSp>
      <p:pic>
        <p:nvPicPr>
          <p:cNvPr id="29" name="그림 28">
            <a:extLst>
              <a:ext uri="{FF2B5EF4-FFF2-40B4-BE49-F238E27FC236}">
                <a16:creationId xmlns:a16="http://schemas.microsoft.com/office/drawing/2014/main" id="{7A59169B-13B4-44DC-8D9C-CD28E99434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317" y="181668"/>
            <a:ext cx="2716384" cy="21307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10C8C1A4-BCFC-4519-AD02-88CF579F3C27}"/>
              </a:ext>
            </a:extLst>
          </p:cNvPr>
          <p:cNvSpPr txBox="1"/>
          <p:nvPr/>
        </p:nvSpPr>
        <p:spPr>
          <a:xfrm>
            <a:off x="1618298" y="5580365"/>
            <a:ext cx="6340064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만기 발행일로부터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6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개월 만기로 짧은 만기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D92067F2-0826-4410-BEEC-2D631A516F41}"/>
              </a:ext>
            </a:extLst>
          </p:cNvPr>
          <p:cNvGrpSpPr/>
          <p:nvPr/>
        </p:nvGrpSpPr>
        <p:grpSpPr>
          <a:xfrm>
            <a:off x="3426584" y="4385287"/>
            <a:ext cx="2723494" cy="369332"/>
            <a:chOff x="3444233" y="2876563"/>
            <a:chExt cx="2723494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12047FC-63B7-4BC0-B5EC-40D9E992134B}"/>
                </a:ext>
              </a:extLst>
            </p:cNvPr>
            <p:cNvSpPr txBox="1"/>
            <p:nvPr/>
          </p:nvSpPr>
          <p:spPr>
            <a:xfrm>
              <a:off x="3877044" y="2950734"/>
              <a:ext cx="2290683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짧은 만기 상품</a:t>
              </a:r>
              <a:endPara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  <p:pic>
          <p:nvPicPr>
            <p:cNvPr id="54" name="Picture 5">
              <a:extLst>
                <a:ext uri="{FF2B5EF4-FFF2-40B4-BE49-F238E27FC236}">
                  <a16:creationId xmlns:a16="http://schemas.microsoft.com/office/drawing/2014/main" id="{CAEB3C60-2F1E-4039-A31C-C034B34DB4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44233" y="2876563"/>
              <a:ext cx="432811" cy="369332"/>
            </a:xfrm>
            <a:prstGeom prst="rect">
              <a:avLst/>
            </a:prstGeom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68CC97FC-1B27-4C77-821C-2DCDF26B9D39}"/>
              </a:ext>
            </a:extLst>
          </p:cNvPr>
          <p:cNvSpPr txBox="1"/>
          <p:nvPr/>
        </p:nvSpPr>
        <p:spPr>
          <a:xfrm>
            <a:off x="2447899" y="4816262"/>
            <a:ext cx="468086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 latinLnBrk="1">
              <a:defRPr/>
            </a:pPr>
            <a:r>
              <a:rPr lang="ko-KR" altLang="en-US" sz="1050" dirty="0">
                <a:solidFill>
                  <a:srgbClr val="0070C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내용</a:t>
            </a:r>
            <a:endParaRPr lang="en-US" altLang="ko-KR" sz="1050" dirty="0">
              <a:solidFill>
                <a:srgbClr val="0070C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3F20FE-E664-4607-AC8A-AF0D51E98894}"/>
              </a:ext>
            </a:extLst>
          </p:cNvPr>
          <p:cNvSpPr txBox="1"/>
          <p:nvPr/>
        </p:nvSpPr>
        <p:spPr>
          <a:xfrm>
            <a:off x="2447899" y="1131575"/>
            <a:ext cx="468086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 latinLnBrk="1">
              <a:defRPr/>
            </a:pPr>
            <a:r>
              <a:rPr lang="ko-KR" altLang="en-US" sz="1050" dirty="0">
                <a:solidFill>
                  <a:srgbClr val="0070C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내용</a:t>
            </a:r>
            <a:endParaRPr lang="en-US" altLang="ko-KR" sz="1050" dirty="0">
              <a:solidFill>
                <a:srgbClr val="0070C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734C14-F0F2-4C3A-98BB-CACF41BA612B}"/>
              </a:ext>
            </a:extLst>
          </p:cNvPr>
          <p:cNvSpPr txBox="1"/>
          <p:nvPr/>
        </p:nvSpPr>
        <p:spPr>
          <a:xfrm>
            <a:off x="2471497" y="2853424"/>
            <a:ext cx="468086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 latinLnBrk="1">
              <a:defRPr/>
            </a:pPr>
            <a:r>
              <a:rPr lang="ko-KR" altLang="en-US" sz="1050" dirty="0">
                <a:solidFill>
                  <a:srgbClr val="0070C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내용</a:t>
            </a:r>
            <a:endParaRPr lang="en-US" altLang="ko-KR" sz="1050" dirty="0">
              <a:solidFill>
                <a:srgbClr val="0070C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30" name="육각형 29">
            <a:extLst>
              <a:ext uri="{FF2B5EF4-FFF2-40B4-BE49-F238E27FC236}">
                <a16:creationId xmlns:a16="http://schemas.microsoft.com/office/drawing/2014/main" id="{76C5E0ED-9FEC-4202-B067-11F4586C6BA6}"/>
              </a:ext>
            </a:extLst>
          </p:cNvPr>
          <p:cNvSpPr/>
          <p:nvPr/>
        </p:nvSpPr>
        <p:spPr>
          <a:xfrm>
            <a:off x="1187918" y="1441089"/>
            <a:ext cx="7530164" cy="1013176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육각형 30">
            <a:extLst>
              <a:ext uri="{FF2B5EF4-FFF2-40B4-BE49-F238E27FC236}">
                <a16:creationId xmlns:a16="http://schemas.microsoft.com/office/drawing/2014/main" id="{07C2B09D-C354-4D56-9466-AB8D1449EC7A}"/>
              </a:ext>
            </a:extLst>
          </p:cNvPr>
          <p:cNvSpPr/>
          <p:nvPr/>
        </p:nvSpPr>
        <p:spPr>
          <a:xfrm>
            <a:off x="1355774" y="1398429"/>
            <a:ext cx="7175041" cy="1092412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4ECF91-BE5D-49F6-80F0-6708354EDBCC}"/>
              </a:ext>
            </a:extLst>
          </p:cNvPr>
          <p:cNvSpPr txBox="1"/>
          <p:nvPr/>
        </p:nvSpPr>
        <p:spPr>
          <a:xfrm>
            <a:off x="1614745" y="1668753"/>
            <a:ext cx="6967754" cy="5078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 건 사업은 충청남도 천안시 </a:t>
            </a:r>
            <a:r>
              <a:rPr lang="ko-KR" alt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서북구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부대동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354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번지 일원에 진행하는 천안 부성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지구 도시개발사업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미확보 필지 수용재결 절차 진행을 위한 토지 소유권 확보를 위한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 대출 중  </a:t>
            </a:r>
            <a:r>
              <a:rPr lang="en-US" altLang="ko-KR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Tr.B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를 기초자산으로 사모사채를 발행하는 건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34" name="슬라이드 번호 개체 틀 1">
            <a:extLst>
              <a:ext uri="{FF2B5EF4-FFF2-40B4-BE49-F238E27FC236}">
                <a16:creationId xmlns:a16="http://schemas.microsoft.com/office/drawing/2014/main" id="{A9B718EA-3C6C-4C62-8C33-6580F28A13A7}"/>
              </a:ext>
            </a:extLst>
          </p:cNvPr>
          <p:cNvSpPr txBox="1">
            <a:spLocks/>
          </p:cNvSpPr>
          <p:nvPr/>
        </p:nvSpPr>
        <p:spPr>
          <a:xfrm>
            <a:off x="6567488" y="6576219"/>
            <a:ext cx="3097212" cy="22716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ko-KR" altLang="en-US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사업명｜</a:t>
            </a:r>
            <a:r>
              <a:rPr lang="en-US" altLang="ko-KR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  </a:t>
            </a:r>
            <a:fld id="{F3A57096-21A8-44ED-AF94-8A259496D2BE}" type="slidenum">
              <a:rPr lang="en-US" altLang="en-US" smtClean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pPr>
                <a:defRPr/>
              </a:pPr>
              <a:t>2</a:t>
            </a:fld>
            <a:endParaRPr lang="en-US" altLang="en-US" dirty="0"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1971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그림 61">
            <a:extLst>
              <a:ext uri="{FF2B5EF4-FFF2-40B4-BE49-F238E27FC236}">
                <a16:creationId xmlns:a16="http://schemas.microsoft.com/office/drawing/2014/main" id="{0F480219-8797-4BD3-AE27-7C85F04AE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2" y="1"/>
            <a:ext cx="1302294" cy="6858000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FC236CDE-1FA7-4850-9122-ACE5590F0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94" y="1"/>
            <a:ext cx="1324017" cy="6858000"/>
          </a:xfrm>
          <a:prstGeom prst="rect">
            <a:avLst/>
          </a:prstGeom>
        </p:spPr>
      </p:pic>
      <p:sp>
        <p:nvSpPr>
          <p:cNvPr id="29" name="TextBox 45">
            <a:extLst>
              <a:ext uri="{FF2B5EF4-FFF2-40B4-BE49-F238E27FC236}">
                <a16:creationId xmlns:a16="http://schemas.microsoft.com/office/drawing/2014/main" id="{8EE14628-E83D-440B-A90E-6369AAEC836F}"/>
              </a:ext>
            </a:extLst>
          </p:cNvPr>
          <p:cNvSpPr txBox="1"/>
          <p:nvPr/>
        </p:nvSpPr>
        <p:spPr>
          <a:xfrm>
            <a:off x="3943482" y="1103621"/>
            <a:ext cx="2879940" cy="57708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4415"/>
              </a:lnSpc>
              <a:spcBef>
                <a:spcPct val="0"/>
              </a:spcBef>
            </a:pPr>
            <a:r>
              <a:rPr lang="en-US" sz="4000" b="1" spc="121" dirty="0">
                <a:solidFill>
                  <a:srgbClr val="08377C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Montserrat Bold"/>
                <a:sym typeface="Montserrat Bold"/>
              </a:rPr>
              <a:t>CONTENTS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BE50DD1-D286-46E5-9EE1-6293888C068F}"/>
              </a:ext>
            </a:extLst>
          </p:cNvPr>
          <p:cNvSpPr txBox="1"/>
          <p:nvPr/>
        </p:nvSpPr>
        <p:spPr>
          <a:xfrm>
            <a:off x="2684979" y="2203347"/>
            <a:ext cx="18000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35B50A-0595-4C49-B528-1C639C505BF5}"/>
              </a:ext>
            </a:extLst>
          </p:cNvPr>
          <p:cNvSpPr txBox="1"/>
          <p:nvPr/>
        </p:nvSpPr>
        <p:spPr>
          <a:xfrm>
            <a:off x="2684979" y="4599713"/>
            <a:ext cx="1345524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02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금융개요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143523-5995-4344-8507-6A95EB6BFC25}"/>
              </a:ext>
            </a:extLst>
          </p:cNvPr>
          <p:cNvSpPr txBox="1"/>
          <p:nvPr/>
        </p:nvSpPr>
        <p:spPr>
          <a:xfrm>
            <a:off x="6397222" y="2182378"/>
            <a:ext cx="19263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03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사업 개요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45A10F-51D0-4082-A416-C2AFF309052B}"/>
              </a:ext>
            </a:extLst>
          </p:cNvPr>
          <p:cNvSpPr txBox="1"/>
          <p:nvPr/>
        </p:nvSpPr>
        <p:spPr>
          <a:xfrm>
            <a:off x="6397222" y="4578744"/>
            <a:ext cx="158729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04  Appendix</a:t>
            </a:r>
            <a:endParaRPr lang="ko-KR" altLang="en-US" sz="2000" dirty="0">
              <a:solidFill>
                <a:schemeClr val="accent1">
                  <a:lumMod val="7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7C29AF-93AF-4BBC-BE8A-D1D8D5CABD65}"/>
              </a:ext>
            </a:extLst>
          </p:cNvPr>
          <p:cNvSpPr txBox="1"/>
          <p:nvPr/>
        </p:nvSpPr>
        <p:spPr>
          <a:xfrm>
            <a:off x="3081285" y="2511124"/>
            <a:ext cx="1348318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</a:t>
            </a: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개요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BFDCC0F-7162-4AB5-B0EA-3B4E5E8EA6B0}"/>
              </a:ext>
            </a:extLst>
          </p:cNvPr>
          <p:cNvSpPr txBox="1"/>
          <p:nvPr/>
        </p:nvSpPr>
        <p:spPr>
          <a:xfrm>
            <a:off x="3126851" y="4931650"/>
            <a:ext cx="1663917" cy="5309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투자구조도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기초자산 금융조건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0AB626-2451-4571-A306-B6F61A1CB25B}"/>
              </a:ext>
            </a:extLst>
          </p:cNvPr>
          <p:cNvSpPr txBox="1"/>
          <p:nvPr/>
        </p:nvSpPr>
        <p:spPr>
          <a:xfrm>
            <a:off x="6871314" y="2534217"/>
            <a:ext cx="1926353" cy="5309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사업개요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62C638-33B8-48F9-B292-D92156DDA980}"/>
              </a:ext>
            </a:extLst>
          </p:cNvPr>
          <p:cNvSpPr txBox="1"/>
          <p:nvPr/>
        </p:nvSpPr>
        <p:spPr>
          <a:xfrm>
            <a:off x="6865578" y="4896994"/>
            <a:ext cx="633379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4.1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2D6AC7F-9894-4E25-9A29-28AB65CB68EE}"/>
              </a:ext>
            </a:extLst>
          </p:cNvPr>
          <p:cNvGrpSpPr/>
          <p:nvPr/>
        </p:nvGrpSpPr>
        <p:grpSpPr>
          <a:xfrm>
            <a:off x="31682" y="2200275"/>
            <a:ext cx="2484000" cy="2484000"/>
            <a:chOff x="31682" y="2200275"/>
            <a:chExt cx="2484000" cy="2484000"/>
          </a:xfrm>
        </p:grpSpPr>
        <p:sp>
          <p:nvSpPr>
            <p:cNvPr id="21" name="Freeform 23">
              <a:extLst>
                <a:ext uri="{FF2B5EF4-FFF2-40B4-BE49-F238E27FC236}">
                  <a16:creationId xmlns:a16="http://schemas.microsoft.com/office/drawing/2014/main" id="{E48C7CEE-BAA1-4AFE-82FB-E5CA4A3B2AD6}"/>
                </a:ext>
              </a:extLst>
            </p:cNvPr>
            <p:cNvSpPr/>
            <p:nvPr/>
          </p:nvSpPr>
          <p:spPr>
            <a:xfrm>
              <a:off x="31682" y="2200275"/>
              <a:ext cx="2484000" cy="2484000"/>
            </a:xfrm>
            <a:custGeom>
              <a:avLst/>
              <a:gdLst/>
              <a:ahLst/>
              <a:cxnLst/>
              <a:rect l="l" t="t" r="r" b="b"/>
              <a:pathLst>
                <a:path w="8476683" h="8473151">
                  <a:moveTo>
                    <a:pt x="0" y="0"/>
                  </a:moveTo>
                  <a:lnTo>
                    <a:pt x="8476683" y="0"/>
                  </a:lnTo>
                  <a:lnTo>
                    <a:pt x="8476683" y="8473151"/>
                  </a:lnTo>
                  <a:lnTo>
                    <a:pt x="0" y="84731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grpSp>
          <p:nvGrpSpPr>
            <p:cNvPr id="22" name="Group 27">
              <a:extLst>
                <a:ext uri="{FF2B5EF4-FFF2-40B4-BE49-F238E27FC236}">
                  <a16:creationId xmlns:a16="http://schemas.microsoft.com/office/drawing/2014/main" id="{8D849133-720F-4AE4-8EBB-2BC27CE74F50}"/>
                </a:ext>
              </a:extLst>
            </p:cNvPr>
            <p:cNvGrpSpPr/>
            <p:nvPr/>
          </p:nvGrpSpPr>
          <p:grpSpPr>
            <a:xfrm>
              <a:off x="198221" y="2394496"/>
              <a:ext cx="2101462" cy="2126410"/>
              <a:chOff x="0" y="0"/>
              <a:chExt cx="812800" cy="812800"/>
            </a:xfrm>
          </p:grpSpPr>
          <p:sp>
            <p:nvSpPr>
              <p:cNvPr id="24" name="Freeform 28">
                <a:extLst>
                  <a:ext uri="{FF2B5EF4-FFF2-40B4-BE49-F238E27FC236}">
                    <a16:creationId xmlns:a16="http://schemas.microsoft.com/office/drawing/2014/main" id="{2CFCDE1C-A8C3-4EBC-83A3-99AD7CB41A4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13A73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25" name="TextBox 29">
                <a:extLst>
                  <a:ext uri="{FF2B5EF4-FFF2-40B4-BE49-F238E27FC236}">
                    <a16:creationId xmlns:a16="http://schemas.microsoft.com/office/drawing/2014/main" id="{0B38D8D4-BE29-4E41-99B3-9B543D378815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27517" tIns="27517" rIns="27517" bIns="27517" rtlCol="0" anchor="ctr"/>
              <a:lstStyle/>
              <a:p>
                <a:pPr algn="ctr">
                  <a:lnSpc>
                    <a:spcPts val="1668"/>
                  </a:lnSpc>
                  <a:spcBef>
                    <a:spcPct val="0"/>
                  </a:spcBef>
                </a:pPr>
                <a:endParaRPr sz="572"/>
              </a:p>
            </p:txBody>
          </p:sp>
        </p:grpSp>
        <p:sp>
          <p:nvSpPr>
            <p:cNvPr id="23" name="Freeform 35">
              <a:extLst>
                <a:ext uri="{FF2B5EF4-FFF2-40B4-BE49-F238E27FC236}">
                  <a16:creationId xmlns:a16="http://schemas.microsoft.com/office/drawing/2014/main" id="{E8EC7D96-457E-497A-B700-2ED7081D2326}"/>
                </a:ext>
              </a:extLst>
            </p:cNvPr>
            <p:cNvSpPr/>
            <p:nvPr/>
          </p:nvSpPr>
          <p:spPr>
            <a:xfrm rot="5400000" flipH="1">
              <a:off x="-428568" y="2941955"/>
              <a:ext cx="2202681" cy="1025550"/>
            </a:xfrm>
            <a:custGeom>
              <a:avLst/>
              <a:gdLst/>
              <a:ahLst/>
              <a:cxnLst/>
              <a:rect l="l" t="t" r="r" b="b"/>
              <a:pathLst>
                <a:path w="7715094" h="3707614">
                  <a:moveTo>
                    <a:pt x="0" y="0"/>
                  </a:moveTo>
                  <a:lnTo>
                    <a:pt x="7715094" y="0"/>
                  </a:lnTo>
                  <a:lnTo>
                    <a:pt x="7715094" y="3707614"/>
                  </a:lnTo>
                  <a:lnTo>
                    <a:pt x="0" y="37076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t="-5935"/>
              </a:stretch>
            </a:blipFill>
          </p:spPr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5C226EE5-97BC-44A8-AFC3-45859143DD85}"/>
              </a:ext>
            </a:extLst>
          </p:cNvPr>
          <p:cNvSpPr/>
          <p:nvPr/>
        </p:nvSpPr>
        <p:spPr>
          <a:xfrm>
            <a:off x="302736" y="2502720"/>
            <a:ext cx="1893600" cy="19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3076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그림 61">
            <a:extLst>
              <a:ext uri="{FF2B5EF4-FFF2-40B4-BE49-F238E27FC236}">
                <a16:creationId xmlns:a16="http://schemas.microsoft.com/office/drawing/2014/main" id="{0F480219-8797-4BD3-AE27-7C85F04AE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2" y="1"/>
            <a:ext cx="1302294" cy="6858000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FC236CDE-1FA7-4850-9122-ACE5590F0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94" y="1"/>
            <a:ext cx="1324017" cy="6858000"/>
          </a:xfrm>
          <a:prstGeom prst="rect">
            <a:avLst/>
          </a:prstGeom>
        </p:spPr>
      </p:pic>
      <p:sp>
        <p:nvSpPr>
          <p:cNvPr id="29" name="TextBox 45">
            <a:extLst>
              <a:ext uri="{FF2B5EF4-FFF2-40B4-BE49-F238E27FC236}">
                <a16:creationId xmlns:a16="http://schemas.microsoft.com/office/drawing/2014/main" id="{8EE14628-E83D-440B-A90E-6369AAEC836F}"/>
              </a:ext>
            </a:extLst>
          </p:cNvPr>
          <p:cNvSpPr txBox="1"/>
          <p:nvPr/>
        </p:nvSpPr>
        <p:spPr>
          <a:xfrm>
            <a:off x="3943482" y="1103621"/>
            <a:ext cx="2879940" cy="57708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4415"/>
              </a:lnSpc>
              <a:spcBef>
                <a:spcPct val="0"/>
              </a:spcBef>
            </a:pPr>
            <a:r>
              <a:rPr lang="en-US" sz="4000" b="1" spc="121" dirty="0">
                <a:solidFill>
                  <a:srgbClr val="08377C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Montserrat Bold"/>
                <a:sym typeface="Montserrat Bold"/>
              </a:rPr>
              <a:t>CONTENTS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BE50DD1-D286-46E5-9EE1-6293888C068F}"/>
              </a:ext>
            </a:extLst>
          </p:cNvPr>
          <p:cNvSpPr txBox="1"/>
          <p:nvPr/>
        </p:nvSpPr>
        <p:spPr>
          <a:xfrm>
            <a:off x="2515682" y="2291420"/>
            <a:ext cx="18000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35B50A-0595-4C49-B528-1C639C505BF5}"/>
              </a:ext>
            </a:extLst>
          </p:cNvPr>
          <p:cNvSpPr txBox="1"/>
          <p:nvPr/>
        </p:nvSpPr>
        <p:spPr>
          <a:xfrm>
            <a:off x="4771848" y="2281895"/>
            <a:ext cx="1345524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02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금융개요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143523-5995-4344-8507-6A95EB6BFC25}"/>
              </a:ext>
            </a:extLst>
          </p:cNvPr>
          <p:cNvSpPr txBox="1"/>
          <p:nvPr/>
        </p:nvSpPr>
        <p:spPr>
          <a:xfrm>
            <a:off x="6934154" y="2193943"/>
            <a:ext cx="19263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03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사업 개요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45A10F-51D0-4082-A416-C2AFF309052B}"/>
              </a:ext>
            </a:extLst>
          </p:cNvPr>
          <p:cNvSpPr txBox="1"/>
          <p:nvPr/>
        </p:nvSpPr>
        <p:spPr>
          <a:xfrm>
            <a:off x="2514434" y="4302960"/>
            <a:ext cx="158729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04  Appendix</a:t>
            </a:r>
            <a:endParaRPr lang="ko-KR" altLang="en-US" sz="2000" dirty="0">
              <a:solidFill>
                <a:schemeClr val="accent1">
                  <a:lumMod val="7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7C29AF-93AF-4BBC-BE8A-D1D8D5CABD65}"/>
              </a:ext>
            </a:extLst>
          </p:cNvPr>
          <p:cNvSpPr txBox="1"/>
          <p:nvPr/>
        </p:nvSpPr>
        <p:spPr>
          <a:xfrm>
            <a:off x="2904148" y="2618347"/>
            <a:ext cx="1348318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</a:t>
            </a: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개요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BFDCC0F-7162-4AB5-B0EA-3B4E5E8EA6B0}"/>
              </a:ext>
            </a:extLst>
          </p:cNvPr>
          <p:cNvSpPr txBox="1"/>
          <p:nvPr/>
        </p:nvSpPr>
        <p:spPr>
          <a:xfrm>
            <a:off x="5201176" y="2623600"/>
            <a:ext cx="1663917" cy="5309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투자 구조도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기초자산 금융조건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0AB626-2451-4571-A306-B6F61A1CB25B}"/>
              </a:ext>
            </a:extLst>
          </p:cNvPr>
          <p:cNvSpPr txBox="1"/>
          <p:nvPr/>
        </p:nvSpPr>
        <p:spPr>
          <a:xfrm>
            <a:off x="7368516" y="2543965"/>
            <a:ext cx="764825" cy="5309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사업개요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62C638-33B8-48F9-B292-D92156DDA980}"/>
              </a:ext>
            </a:extLst>
          </p:cNvPr>
          <p:cNvSpPr txBox="1"/>
          <p:nvPr/>
        </p:nvSpPr>
        <p:spPr>
          <a:xfrm>
            <a:off x="2943059" y="4651559"/>
            <a:ext cx="633379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4.1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0C91072-6AEE-4C03-BC7F-A890C9321A47}"/>
              </a:ext>
            </a:extLst>
          </p:cNvPr>
          <p:cNvGrpSpPr/>
          <p:nvPr/>
        </p:nvGrpSpPr>
        <p:grpSpPr>
          <a:xfrm>
            <a:off x="31682" y="2200275"/>
            <a:ext cx="2484000" cy="2484000"/>
            <a:chOff x="31682" y="2200275"/>
            <a:chExt cx="2484000" cy="2484000"/>
          </a:xfrm>
        </p:grpSpPr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28A15163-1941-41DA-86EC-260AA91A6E43}"/>
                </a:ext>
              </a:extLst>
            </p:cNvPr>
            <p:cNvSpPr/>
            <p:nvPr/>
          </p:nvSpPr>
          <p:spPr>
            <a:xfrm>
              <a:off x="31682" y="2200275"/>
              <a:ext cx="2484000" cy="2484000"/>
            </a:xfrm>
            <a:custGeom>
              <a:avLst/>
              <a:gdLst/>
              <a:ahLst/>
              <a:cxnLst/>
              <a:rect l="l" t="t" r="r" b="b"/>
              <a:pathLst>
                <a:path w="8476683" h="8473151">
                  <a:moveTo>
                    <a:pt x="0" y="0"/>
                  </a:moveTo>
                  <a:lnTo>
                    <a:pt x="8476683" y="0"/>
                  </a:lnTo>
                  <a:lnTo>
                    <a:pt x="8476683" y="8473151"/>
                  </a:lnTo>
                  <a:lnTo>
                    <a:pt x="0" y="84731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grpSp>
          <p:nvGrpSpPr>
            <p:cNvPr id="54" name="Group 27">
              <a:extLst>
                <a:ext uri="{FF2B5EF4-FFF2-40B4-BE49-F238E27FC236}">
                  <a16:creationId xmlns:a16="http://schemas.microsoft.com/office/drawing/2014/main" id="{73E3FFAB-C0EA-4830-A4E8-4AEEADB58814}"/>
                </a:ext>
              </a:extLst>
            </p:cNvPr>
            <p:cNvGrpSpPr/>
            <p:nvPr/>
          </p:nvGrpSpPr>
          <p:grpSpPr>
            <a:xfrm>
              <a:off x="198221" y="2394496"/>
              <a:ext cx="2101462" cy="2126410"/>
              <a:chOff x="0" y="0"/>
              <a:chExt cx="812800" cy="812800"/>
            </a:xfrm>
          </p:grpSpPr>
          <p:sp>
            <p:nvSpPr>
              <p:cNvPr id="55" name="Freeform 28">
                <a:extLst>
                  <a:ext uri="{FF2B5EF4-FFF2-40B4-BE49-F238E27FC236}">
                    <a16:creationId xmlns:a16="http://schemas.microsoft.com/office/drawing/2014/main" id="{2F1C62CB-D090-4728-A13F-E198779CCB1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13A73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56" name="TextBox 29">
                <a:extLst>
                  <a:ext uri="{FF2B5EF4-FFF2-40B4-BE49-F238E27FC236}">
                    <a16:creationId xmlns:a16="http://schemas.microsoft.com/office/drawing/2014/main" id="{584FEC31-5AA0-4A82-BB69-B6D2DF8AD95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27517" tIns="27517" rIns="27517" bIns="27517" rtlCol="0" anchor="ctr"/>
              <a:lstStyle/>
              <a:p>
                <a:pPr algn="ctr">
                  <a:lnSpc>
                    <a:spcPts val="1668"/>
                  </a:lnSpc>
                  <a:spcBef>
                    <a:spcPct val="0"/>
                  </a:spcBef>
                </a:pPr>
                <a:endParaRPr sz="572"/>
              </a:p>
            </p:txBody>
          </p:sp>
        </p:grpSp>
        <p:sp>
          <p:nvSpPr>
            <p:cNvPr id="58" name="Freeform 35">
              <a:extLst>
                <a:ext uri="{FF2B5EF4-FFF2-40B4-BE49-F238E27FC236}">
                  <a16:creationId xmlns:a16="http://schemas.microsoft.com/office/drawing/2014/main" id="{74D6FA4D-E67D-4CDA-B453-21C414F80EA1}"/>
                </a:ext>
              </a:extLst>
            </p:cNvPr>
            <p:cNvSpPr/>
            <p:nvPr/>
          </p:nvSpPr>
          <p:spPr>
            <a:xfrm rot="5400000" flipH="1">
              <a:off x="-428568" y="2941955"/>
              <a:ext cx="2202681" cy="1025550"/>
            </a:xfrm>
            <a:custGeom>
              <a:avLst/>
              <a:gdLst/>
              <a:ahLst/>
              <a:cxnLst/>
              <a:rect l="l" t="t" r="r" b="b"/>
              <a:pathLst>
                <a:path w="7715094" h="3707614">
                  <a:moveTo>
                    <a:pt x="0" y="0"/>
                  </a:moveTo>
                  <a:lnTo>
                    <a:pt x="7715094" y="0"/>
                  </a:lnTo>
                  <a:lnTo>
                    <a:pt x="7715094" y="3707614"/>
                  </a:lnTo>
                  <a:lnTo>
                    <a:pt x="0" y="37076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t="-5935"/>
              </a:stretch>
            </a:blipFill>
          </p:spPr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C2AFDFC-B3D4-4F58-AC03-292C00DBB9AD}"/>
              </a:ext>
            </a:extLst>
          </p:cNvPr>
          <p:cNvSpPr txBox="1"/>
          <p:nvPr/>
        </p:nvSpPr>
        <p:spPr>
          <a:xfrm>
            <a:off x="4721444" y="4302960"/>
            <a:ext cx="158729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05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제목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943EE5-6A16-416E-BFE3-090CF8B45BD2}"/>
              </a:ext>
            </a:extLst>
          </p:cNvPr>
          <p:cNvSpPr txBox="1"/>
          <p:nvPr/>
        </p:nvSpPr>
        <p:spPr>
          <a:xfrm>
            <a:off x="5150069" y="4651559"/>
            <a:ext cx="630173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5.1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71F41B9F-3F37-45F4-BD59-25A29290BCF1}"/>
              </a:ext>
            </a:extLst>
          </p:cNvPr>
          <p:cNvSpPr/>
          <p:nvPr/>
        </p:nvSpPr>
        <p:spPr>
          <a:xfrm>
            <a:off x="302736" y="2502720"/>
            <a:ext cx="1893600" cy="19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3772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D980A85A-E26B-499D-917A-7A1FBA6E9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48E2BFD-FD71-4F48-BF21-AB8A94311C31}"/>
              </a:ext>
            </a:extLst>
          </p:cNvPr>
          <p:cNvSpPr txBox="1"/>
          <p:nvPr/>
        </p:nvSpPr>
        <p:spPr>
          <a:xfrm>
            <a:off x="1169067" y="295375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265187D-4FEE-459D-88AD-AD8F2F3CC016}"/>
              </a:ext>
            </a:extLst>
          </p:cNvPr>
          <p:cNvGrpSpPr/>
          <p:nvPr/>
        </p:nvGrpSpPr>
        <p:grpSpPr>
          <a:xfrm>
            <a:off x="1271800" y="3565688"/>
            <a:ext cx="2228799" cy="338554"/>
            <a:chOff x="1450226" y="3100952"/>
            <a:chExt cx="2228799" cy="33855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965C9E3-74F0-4799-B694-AD75DD9D024F}"/>
                </a:ext>
              </a:extLst>
            </p:cNvPr>
            <p:cNvSpPr txBox="1"/>
            <p:nvPr/>
          </p:nvSpPr>
          <p:spPr>
            <a:xfrm>
              <a:off x="1952270" y="3100952"/>
              <a:ext cx="172675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본건 사모사채</a:t>
              </a:r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 </a:t>
              </a:r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개요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534D3-E6A9-4DD9-8FB9-1C6CDC2E254A}"/>
                </a:ext>
              </a:extLst>
            </p:cNvPr>
            <p:cNvSpPr txBox="1"/>
            <p:nvPr/>
          </p:nvSpPr>
          <p:spPr>
            <a:xfrm>
              <a:off x="1450226" y="3100952"/>
              <a:ext cx="4061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1.1</a:t>
              </a:r>
            </a:p>
          </p:txBody>
        </p:sp>
      </p:grpSp>
      <p:sp>
        <p:nvSpPr>
          <p:cNvPr id="33" name="타원 32">
            <a:extLst>
              <a:ext uri="{FF2B5EF4-FFF2-40B4-BE49-F238E27FC236}">
                <a16:creationId xmlns:a16="http://schemas.microsoft.com/office/drawing/2014/main" id="{EC3BE9A4-2108-40FA-A75C-0E2A5E8BDAE8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7B12FD72-5164-4E83-84EC-9AFB7C02874F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9F74AEA9-95AD-4FC6-BE8D-E471F1DAAABC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0A81E6EE-BE3B-41CD-8EE7-815D58071242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7267841C-0786-4ADF-9D01-3C5706666DDE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98153E9-F9DA-4B46-A2AF-7E0BA1BE16F7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797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2">
            <a:extLst>
              <a:ext uri="{FF2B5EF4-FFF2-40B4-BE49-F238E27FC236}">
                <a16:creationId xmlns:a16="http://schemas.microsoft.com/office/drawing/2014/main" id="{1FA3035A-768E-443A-806C-3941A656FFC4}"/>
              </a:ext>
            </a:extLst>
          </p:cNvPr>
          <p:cNvSpPr txBox="1">
            <a:spLocks/>
          </p:cNvSpPr>
          <p:nvPr/>
        </p:nvSpPr>
        <p:spPr>
          <a:xfrm>
            <a:off x="393700" y="926999"/>
            <a:ext cx="7912100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사모사채는 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기초자산 이름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기초자산으로 발행하는 사모사채입니다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. </a:t>
            </a:r>
          </a:p>
          <a:p>
            <a:pPr>
              <a:lnSpc>
                <a:spcPct val="130000"/>
              </a:lnSpc>
              <a:spcBef>
                <a:spcPts val="0"/>
              </a:spcBef>
            </a:pP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graphicFrame>
        <p:nvGraphicFramePr>
          <p:cNvPr id="16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1842"/>
              </p:ext>
            </p:extLst>
          </p:nvPr>
        </p:nvGraphicFramePr>
        <p:xfrm>
          <a:off x="304801" y="1447800"/>
          <a:ext cx="9296400" cy="5012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0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사모사채명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TBD(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신규 유동화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SPC) 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제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1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회 무기명식 무보증 사모사채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 유형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국내 전자등록 또는 실물 발행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무기명식 무보증 사모사채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발행인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TBD(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신규 유동화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SPC)</a:t>
                      </a: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기초자산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이름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발행금액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000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₩ 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00,000,000,000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)</a:t>
                      </a: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발행일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년 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예정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9342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만기일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년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월 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발행일로부터 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개월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 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9342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금융조건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직접 </a:t>
                      </a:r>
                      <a:r>
                        <a:rPr lang="ko-KR" altLang="en-US" sz="1050" b="0" kern="1200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적어야함</a:t>
                      </a:r>
                      <a:endParaRPr 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49041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이자지급주기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[xx]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개월 단위 후취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421565"/>
                  </a:ext>
                </a:extLst>
              </a:tr>
            </a:tbl>
          </a:graphicData>
        </a:graphic>
      </p:graphicFrame>
      <p:sp>
        <p:nvSpPr>
          <p:cNvPr id="6" name="텍스트 개체 틀 4">
            <a:extLst>
              <a:ext uri="{FF2B5EF4-FFF2-40B4-BE49-F238E27FC236}">
                <a16:creationId xmlns:a16="http://schemas.microsoft.com/office/drawing/2014/main" id="{745B4E01-8E51-938E-3086-5CA353FEBC6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700" y="588702"/>
            <a:ext cx="3228975" cy="265509"/>
          </a:xfrm>
        </p:spPr>
        <p:txBody>
          <a:bodyPr/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1.1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 개요</a:t>
            </a:r>
          </a:p>
        </p:txBody>
      </p:sp>
      <p:sp>
        <p:nvSpPr>
          <p:cNvPr id="8" name="슬라이드 번호 개체 틀 1">
            <a:extLst>
              <a:ext uri="{FF2B5EF4-FFF2-40B4-BE49-F238E27FC236}">
                <a16:creationId xmlns:a16="http://schemas.microsoft.com/office/drawing/2014/main" id="{1D2DAE9A-5557-4587-B1B1-8C1886F4C64A}"/>
              </a:ext>
            </a:extLst>
          </p:cNvPr>
          <p:cNvSpPr txBox="1">
            <a:spLocks/>
          </p:cNvSpPr>
          <p:nvPr/>
        </p:nvSpPr>
        <p:spPr>
          <a:xfrm>
            <a:off x="6567488" y="6576219"/>
            <a:ext cx="3097212" cy="22716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ko-KR" altLang="en-US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사업명｜</a:t>
            </a:r>
            <a:r>
              <a:rPr lang="en-US" altLang="ko-KR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  </a:t>
            </a:r>
            <a:fld id="{F3A57096-21A8-44ED-AF94-8A259496D2BE}" type="slidenum">
              <a:rPr lang="en-US" altLang="en-US" smtClean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pPr>
                <a:defRPr/>
              </a:pPr>
              <a:t>6</a:t>
            </a:fld>
            <a:endParaRPr lang="en-US" altLang="en-US" dirty="0"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EA3D2529-4B5E-4BB1-874F-74A18E4A14AB}"/>
              </a:ext>
            </a:extLst>
          </p:cNvPr>
          <p:cNvGrpSpPr/>
          <p:nvPr/>
        </p:nvGrpSpPr>
        <p:grpSpPr>
          <a:xfrm>
            <a:off x="1250367" y="3714899"/>
            <a:ext cx="2637565" cy="338554"/>
            <a:chOff x="1450226" y="3100952"/>
            <a:chExt cx="2637565" cy="3385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935E2EC-3527-4479-8558-2C304504BDA4}"/>
                </a:ext>
              </a:extLst>
            </p:cNvPr>
            <p:cNvSpPr txBox="1"/>
            <p:nvPr/>
          </p:nvSpPr>
          <p:spPr>
            <a:xfrm>
              <a:off x="1952270" y="3100952"/>
              <a:ext cx="213552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본건 기초자산 금융조건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B48BE46-5DDC-429C-85F2-0478C7231F9E}"/>
                </a:ext>
              </a:extLst>
            </p:cNvPr>
            <p:cNvSpPr txBox="1"/>
            <p:nvPr/>
          </p:nvSpPr>
          <p:spPr>
            <a:xfrm>
              <a:off x="1450226" y="3100952"/>
              <a:ext cx="4700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2.2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65EA7F1-5BE2-4AA4-BF5D-760454B31681}"/>
              </a:ext>
            </a:extLst>
          </p:cNvPr>
          <p:cNvGrpSpPr/>
          <p:nvPr/>
        </p:nvGrpSpPr>
        <p:grpSpPr>
          <a:xfrm>
            <a:off x="1271800" y="3420705"/>
            <a:ext cx="2047660" cy="338554"/>
            <a:chOff x="1450226" y="3100952"/>
            <a:chExt cx="2047660" cy="338554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04DC45F-2CB3-4D8D-8487-FE129CFA61E7}"/>
                </a:ext>
              </a:extLst>
            </p:cNvPr>
            <p:cNvSpPr txBox="1"/>
            <p:nvPr/>
          </p:nvSpPr>
          <p:spPr>
            <a:xfrm>
              <a:off x="1952270" y="3100952"/>
              <a:ext cx="15456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금융 투자 구조도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C0D8AF-B505-4A37-8FB4-4EBE203332E7}"/>
                </a:ext>
              </a:extLst>
            </p:cNvPr>
            <p:cNvSpPr txBox="1"/>
            <p:nvPr/>
          </p:nvSpPr>
          <p:spPr>
            <a:xfrm>
              <a:off x="1450226" y="3100952"/>
              <a:ext cx="43499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2.1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48E2BFD-FD71-4F48-BF21-AB8A94311C31}"/>
              </a:ext>
            </a:extLst>
          </p:cNvPr>
          <p:cNvSpPr txBox="1"/>
          <p:nvPr/>
        </p:nvSpPr>
        <p:spPr>
          <a:xfrm>
            <a:off x="1161667" y="280454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02  </a:t>
            </a:r>
            <a:r>
              <a:rPr lang="ko-KR" altLang="en-US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금융개요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F10BF00-5AEE-4A58-B5EF-DF56AEEA7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74530055-36A6-42BF-A7EE-327406798C17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FBEACD-23F4-4B4B-ACD2-3842D0037E57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0CE2F4D-781B-4555-AC10-1087A86260EE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5870C148-AE9E-46FC-89CB-D79F3AEDC0E6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ED5F13AF-3C30-47CF-BDEC-1865B89B430C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3DEDA21D-7F71-4545-8731-8D306B9098F5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555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C09D19D-CA50-430E-85B5-00C309F8E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29" name="타원 28">
            <a:extLst>
              <a:ext uri="{FF2B5EF4-FFF2-40B4-BE49-F238E27FC236}">
                <a16:creationId xmlns:a16="http://schemas.microsoft.com/office/drawing/2014/main" id="{8728A0F9-9485-4B2B-9C49-2ED3C0EAC968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6DAED8D2-CF0B-43DF-9501-2403FD23977C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18FBC9A9-5B48-4C3F-9805-529CC43DEC0C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5C8F8B0-58B3-422C-ADCD-6FD3E5E593F5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C997C7B-70B2-4B3B-A9EC-97E07DEBFC1D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A09F73B-712F-468F-8809-9B97F03B9E17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190FE-0EAC-4337-BAD5-C332EB9AF690}"/>
              </a:ext>
            </a:extLst>
          </p:cNvPr>
          <p:cNvSpPr txBox="1"/>
          <p:nvPr/>
        </p:nvSpPr>
        <p:spPr>
          <a:xfrm>
            <a:off x="1169067" y="295375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03  </a:t>
            </a:r>
            <a:r>
              <a:rPr lang="ko-KR" altLang="en-US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사업개요</a:t>
            </a:r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6FE0CA57-EFBB-4F40-8326-535B0FA79A61}"/>
              </a:ext>
            </a:extLst>
          </p:cNvPr>
          <p:cNvGrpSpPr/>
          <p:nvPr/>
        </p:nvGrpSpPr>
        <p:grpSpPr>
          <a:xfrm>
            <a:off x="1271800" y="3565688"/>
            <a:ext cx="1230128" cy="338554"/>
            <a:chOff x="1450226" y="3100952"/>
            <a:chExt cx="1230128" cy="338554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F495D4-9972-404F-9D3E-F73E8DA71BE2}"/>
                </a:ext>
              </a:extLst>
            </p:cNvPr>
            <p:cNvSpPr txBox="1"/>
            <p:nvPr/>
          </p:nvSpPr>
          <p:spPr>
            <a:xfrm>
              <a:off x="1952270" y="3100952"/>
              <a:ext cx="72808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소제목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6A10526-2E09-44A0-852F-E8235DCB4DCB}"/>
                </a:ext>
              </a:extLst>
            </p:cNvPr>
            <p:cNvSpPr txBox="1"/>
            <p:nvPr/>
          </p:nvSpPr>
          <p:spPr>
            <a:xfrm>
              <a:off x="1450226" y="3100952"/>
              <a:ext cx="4398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3.1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2223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DD57231-2B6A-43DF-9ED0-FB2FB86EF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25" name="타원 24">
            <a:extLst>
              <a:ext uri="{FF2B5EF4-FFF2-40B4-BE49-F238E27FC236}">
                <a16:creationId xmlns:a16="http://schemas.microsoft.com/office/drawing/2014/main" id="{892442E4-BA68-419D-944D-0E981AEF998B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EB56E101-BCBD-40A4-99F5-D2FDC42CA5A3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3A3FD978-F67F-4F41-A996-C9D3FB06FE38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442E925-D1CF-4E49-8E1A-6BE23EF6B1EB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A9DF0422-9C1C-4D6E-84D9-B33AD0834E5C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F801DFB0-65D4-4FF3-A4CD-523E0B863A92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25F2CF36-38A3-4A79-B832-57FCCC1929A4}"/>
              </a:ext>
            </a:extLst>
          </p:cNvPr>
          <p:cNvGrpSpPr/>
          <p:nvPr/>
        </p:nvGrpSpPr>
        <p:grpSpPr>
          <a:xfrm>
            <a:off x="1271800" y="3565688"/>
            <a:ext cx="1230128" cy="338554"/>
            <a:chOff x="1450226" y="3100952"/>
            <a:chExt cx="1230128" cy="3385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E28E92-72BA-4563-8F91-92E4C2566D9F}"/>
                </a:ext>
              </a:extLst>
            </p:cNvPr>
            <p:cNvSpPr txBox="1"/>
            <p:nvPr/>
          </p:nvSpPr>
          <p:spPr>
            <a:xfrm>
              <a:off x="1952270" y="3100952"/>
              <a:ext cx="72808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소제목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899673F-CDEE-4E43-92EC-AB5BC385E734}"/>
                </a:ext>
              </a:extLst>
            </p:cNvPr>
            <p:cNvSpPr txBox="1"/>
            <p:nvPr/>
          </p:nvSpPr>
          <p:spPr>
            <a:xfrm>
              <a:off x="1450226" y="3100952"/>
              <a:ext cx="4446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4.1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A0C7AD87-666B-4DF0-B421-61A74BB13515}"/>
              </a:ext>
            </a:extLst>
          </p:cNvPr>
          <p:cNvSpPr txBox="1"/>
          <p:nvPr/>
        </p:nvSpPr>
        <p:spPr>
          <a:xfrm>
            <a:off x="1169067" y="295375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04  Appendix</a:t>
            </a:r>
            <a:endParaRPr lang="ko-KR" altLang="en-US" sz="3200" dirty="0">
              <a:solidFill>
                <a:schemeClr val="accent1">
                  <a:lumMod val="7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085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제목</a:t>
            </a:r>
          </a:p>
        </p:txBody>
      </p:sp>
      <p:sp>
        <p:nvSpPr>
          <p:cNvPr id="2" name="텍스트 개체 틀 4">
            <a:extLst>
              <a:ext uri="{FF2B5EF4-FFF2-40B4-BE49-F238E27FC236}">
                <a16:creationId xmlns:a16="http://schemas.microsoft.com/office/drawing/2014/main" id="{10D206EE-4599-9CC4-A08C-CA49006EA5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소제목</a:t>
            </a:r>
          </a:p>
        </p:txBody>
      </p:sp>
      <p:sp>
        <p:nvSpPr>
          <p:cNvPr id="18" name="텍스트 개체 틀 2">
            <a:extLst>
              <a:ext uri="{FF2B5EF4-FFF2-40B4-BE49-F238E27FC236}">
                <a16:creationId xmlns:a16="http://schemas.microsoft.com/office/drawing/2014/main" id="{E2A2AC6F-E152-4C5D-9AAC-4E8A0AA8A9CE}"/>
              </a:ext>
            </a:extLst>
          </p:cNvPr>
          <p:cNvSpPr txBox="1">
            <a:spLocks/>
          </p:cNvSpPr>
          <p:nvPr/>
        </p:nvSpPr>
        <p:spPr>
          <a:xfrm>
            <a:off x="393698" y="823870"/>
            <a:ext cx="9118602" cy="4891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30000"/>
              </a:lnSpc>
              <a:spcBef>
                <a:spcPts val="0"/>
              </a:spcBef>
              <a:buNone/>
              <a:defRPr/>
            </a:pPr>
            <a:r>
              <a:rPr lang="ko-KR" altLang="en-US" sz="1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페이지 요약</a:t>
            </a:r>
          </a:p>
        </p:txBody>
      </p:sp>
      <p:sp>
        <p:nvSpPr>
          <p:cNvPr id="11" name="슬라이드 번호 개체 틀 1">
            <a:extLst>
              <a:ext uri="{FF2B5EF4-FFF2-40B4-BE49-F238E27FC236}">
                <a16:creationId xmlns:a16="http://schemas.microsoft.com/office/drawing/2014/main" id="{7C2A9A1C-92B7-4856-B43A-49BFF81DD5F8}"/>
              </a:ext>
            </a:extLst>
          </p:cNvPr>
          <p:cNvSpPr txBox="1">
            <a:spLocks/>
          </p:cNvSpPr>
          <p:nvPr/>
        </p:nvSpPr>
        <p:spPr>
          <a:xfrm>
            <a:off x="6567488" y="6576219"/>
            <a:ext cx="3097212" cy="22716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ko-KR" altLang="en-US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사업명｜</a:t>
            </a:r>
            <a:r>
              <a:rPr lang="en-US" altLang="ko-KR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  </a:t>
            </a:r>
            <a:fld id="{F3A57096-21A8-44ED-AF94-8A259496D2BE}" type="slidenum">
              <a:rPr lang="en-US" altLang="en-US" smtClean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pPr>
                <a:defRPr/>
              </a:pPr>
              <a:t>10</a:t>
            </a:fld>
            <a:endParaRPr lang="en-US" altLang="en-US" dirty="0"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7ED05E1-E27D-42FC-A1B1-9161FF0874A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10" t="31255" r="16174" b="4273"/>
          <a:stretch/>
        </p:blipFill>
        <p:spPr>
          <a:xfrm>
            <a:off x="0" y="-1"/>
            <a:ext cx="9906000" cy="68580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378EBF-6031-4786-87A6-759A81DCDF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6085" y="4966567"/>
            <a:ext cx="6432102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19118" indent="-219118">
              <a:defRPr/>
            </a:pPr>
            <a:r>
              <a:rPr lang="ko-KR" altLang="en-US" sz="1000" b="1" kern="0" dirty="0">
                <a:solidFill>
                  <a:sysClr val="windowText" lastClr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Arial" pitchFamily="34" charset="0"/>
              </a:rPr>
              <a:t>본 자료와 관련하여 문의사항이 있으실 경우 아래의 담당자에게 언제든지 연락하여 주시면 성심껏 답변하여 드리겠습니다</a:t>
            </a:r>
            <a:r>
              <a:rPr lang="en-US" altLang="ko-KR" sz="1000" b="1" kern="0" dirty="0">
                <a:solidFill>
                  <a:sysClr val="windowText" lastClr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Arial" pitchFamily="34" charset="0"/>
              </a:rPr>
              <a:t>.</a:t>
            </a:r>
            <a:endParaRPr lang="ko-KR" altLang="en-US" sz="1000" b="1" kern="0" dirty="0">
              <a:solidFill>
                <a:sysClr val="windowText" lastClr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  <a:cs typeface="Arial" pitchFamily="34" charset="0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88A03B-A403-4E01-9951-EE88BCB4C2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8486318"/>
              </p:ext>
            </p:extLst>
          </p:nvPr>
        </p:nvGraphicFramePr>
        <p:xfrm>
          <a:off x="1216085" y="5212788"/>
          <a:ext cx="7473830" cy="1054824"/>
        </p:xfrm>
        <a:graphic>
          <a:graphicData uri="http://schemas.openxmlformats.org/drawingml/2006/table">
            <a:tbl>
              <a:tblPr firstRow="1" bandRow="1"/>
              <a:tblGrid>
                <a:gridCol w="1109804">
                  <a:extLst>
                    <a:ext uri="{9D8B030D-6E8A-4147-A177-3AD203B41FA5}">
                      <a16:colId xmlns:a16="http://schemas.microsoft.com/office/drawing/2014/main" val="3489200769"/>
                    </a:ext>
                  </a:extLst>
                </a:gridCol>
                <a:gridCol w="1109804">
                  <a:extLst>
                    <a:ext uri="{9D8B030D-6E8A-4147-A177-3AD203B41FA5}">
                      <a16:colId xmlns:a16="http://schemas.microsoft.com/office/drawing/2014/main" val="3330462320"/>
                    </a:ext>
                  </a:extLst>
                </a:gridCol>
                <a:gridCol w="1109804">
                  <a:extLst>
                    <a:ext uri="{9D8B030D-6E8A-4147-A177-3AD203B41FA5}">
                      <a16:colId xmlns:a16="http://schemas.microsoft.com/office/drawing/2014/main" val="1890356954"/>
                    </a:ext>
                  </a:extLst>
                </a:gridCol>
                <a:gridCol w="2516412">
                  <a:extLst>
                    <a:ext uri="{9D8B030D-6E8A-4147-A177-3AD203B41FA5}">
                      <a16:colId xmlns:a16="http://schemas.microsoft.com/office/drawing/2014/main" val="4272298019"/>
                    </a:ext>
                  </a:extLst>
                </a:gridCol>
                <a:gridCol w="1628006">
                  <a:extLst>
                    <a:ext uri="{9D8B030D-6E8A-4147-A177-3AD203B41FA5}">
                      <a16:colId xmlns:a16="http://schemas.microsoft.com/office/drawing/2014/main" val="2375832908"/>
                    </a:ext>
                  </a:extLst>
                </a:gridCol>
              </a:tblGrid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직급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이름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E-mail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연락처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827196"/>
                  </a:ext>
                </a:extLst>
              </a:tr>
              <a:tr h="26370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대표이사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박광희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pkh@rainfieldinv.com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010-4490-2050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478623"/>
                  </a:ext>
                </a:extLst>
              </a:tr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투자금융본부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팀장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최재영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cjy@rainfieldinv.com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010-3090-3576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069950"/>
                  </a:ext>
                </a:extLst>
              </a:tr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대체투자본부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팀장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이주호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ljh@rainfieldinv.com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010-5054-9208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814199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2E3653A-1EF8-4176-AE78-824C7DB17FF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4" t="13244" r="18493" b="20606"/>
          <a:stretch/>
        </p:blipFill>
        <p:spPr>
          <a:xfrm>
            <a:off x="3276600" y="1356361"/>
            <a:ext cx="3352800" cy="3375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444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11106</TotalTime>
  <Words>466</Words>
  <Application>Microsoft Office PowerPoint</Application>
  <PresentationFormat>A4 용지(210x297mm)</PresentationFormat>
  <Paragraphs>105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1" baseType="lpstr">
      <vt:lpstr>Montserrat Bold</vt:lpstr>
      <vt:lpstr>맑은 고딕</vt:lpstr>
      <vt:lpstr>Batang</vt:lpstr>
      <vt:lpstr>피플폰트 Bold</vt:lpstr>
      <vt:lpstr>피플폰트 Light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레인필드투자자문</dc:creator>
  <cp:lastModifiedBy>장찬희</cp:lastModifiedBy>
  <cp:revision>1249</cp:revision>
  <cp:lastPrinted>2026-03-06T05:58:23Z</cp:lastPrinted>
  <dcterms:created xsi:type="dcterms:W3CDTF">2026-02-10T06:23:32Z</dcterms:created>
  <dcterms:modified xsi:type="dcterms:W3CDTF">2026-07-23T08:08:55Z</dcterms:modified>
</cp:coreProperties>
</file>