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62" r:id="rId2"/>
    <p:sldId id="269" r:id="rId3"/>
    <p:sldId id="507" r:id="rId4"/>
    <p:sldId id="270" r:id="rId5"/>
    <p:sldId id="271" r:id="rId6"/>
    <p:sldId id="303" r:id="rId7"/>
    <p:sldId id="304" r:id="rId8"/>
    <p:sldId id="268" r:id="rId9"/>
    <p:sldId id="305" r:id="rId10"/>
    <p:sldId id="328" r:id="rId11"/>
    <p:sldId id="508" r:id="rId12"/>
    <p:sldId id="506" r:id="rId13"/>
    <p:sldId id="312" r:id="rId14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95BE"/>
    <a:srgbClr val="08377C"/>
    <a:srgbClr val="595959"/>
    <a:srgbClr val="0063A1"/>
    <a:srgbClr val="8C4A59"/>
    <a:srgbClr val="D9D9D9"/>
    <a:srgbClr val="F2F2F2"/>
    <a:srgbClr val="A4ABBD"/>
    <a:srgbClr val="A5A5A5"/>
    <a:srgbClr val="6AA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7" autoAdjust="0"/>
    <p:restoredTop sz="93046" autoAdjust="0"/>
  </p:normalViewPr>
  <p:slideViewPr>
    <p:cSldViewPr snapToGrid="0">
      <p:cViewPr>
        <p:scale>
          <a:sx n="100" d="100"/>
          <a:sy n="100" d="100"/>
        </p:scale>
        <p:origin x="72" y="-132"/>
      </p:cViewPr>
      <p:guideLst>
        <p:guide orient="horz" pos="2160"/>
        <p:guide pos="3143"/>
      </p:guideLst>
    </p:cSldViewPr>
  </p:slideViewPr>
  <p:outlineViewPr>
    <p:cViewPr>
      <p:scale>
        <a:sx n="33" d="100"/>
        <a:sy n="33" d="100"/>
      </p:scale>
      <p:origin x="0" y="-66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131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B0CBE-BEF5-4768-88B7-C8D33A226F82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6EBDD-C751-45FE-A110-B7B11DBE4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871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6EBDD-C751-45FE-A110-B7B11DBE494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496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09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9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371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33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67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51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04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69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24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30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34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02658A97-D488-4F93-9E61-9552137045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700" y="397926"/>
            <a:ext cx="3228975" cy="198437"/>
          </a:xfrm>
        </p:spPr>
        <p:txBody>
          <a:bodyPr lIns="0" tIns="72000" rIns="0" bIns="0" anchor="ctr">
            <a:normAutofit/>
          </a:bodyPr>
          <a:lstStyle>
            <a:lvl1pPr marL="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챕터명을 입력</a:t>
            </a:r>
          </a:p>
        </p:txBody>
      </p:sp>
      <p:sp>
        <p:nvSpPr>
          <p:cNvPr id="26" name="텍스트 개체 틀 24">
            <a:extLst>
              <a:ext uri="{FF2B5EF4-FFF2-40B4-BE49-F238E27FC236}">
                <a16:creationId xmlns:a16="http://schemas.microsoft.com/office/drawing/2014/main" id="{A14A10F8-1FAF-4934-8322-2E8649EE6B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700" y="588702"/>
            <a:ext cx="3228975" cy="265509"/>
          </a:xfrm>
        </p:spPr>
        <p:txBody>
          <a:bodyPr lIns="0" tIns="36000" rIns="0" bIns="0" anchor="ctr">
            <a:noAutofit/>
          </a:bodyPr>
          <a:lstStyle>
            <a:lvl1pPr marL="0" indent="0">
              <a:buNone/>
              <a:defRPr sz="1400">
                <a:solidFill>
                  <a:srgbClr val="002548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소제목을 입력</a:t>
            </a:r>
          </a:p>
        </p:txBody>
      </p:sp>
      <p:sp>
        <p:nvSpPr>
          <p:cNvPr id="27" name="텍스트 개체 틀 24">
            <a:extLst>
              <a:ext uri="{FF2B5EF4-FFF2-40B4-BE49-F238E27FC236}">
                <a16:creationId xmlns:a16="http://schemas.microsoft.com/office/drawing/2014/main" id="{133F99F5-21F0-469A-B7BC-918EAA068C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699" y="795364"/>
            <a:ext cx="7912100" cy="308931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헤드메시지를 입력</a:t>
            </a:r>
            <a:br>
              <a:rPr lang="en-US" altLang="ko-KR" dirty="0"/>
            </a:br>
            <a:r>
              <a:rPr lang="ko-KR" altLang="en-US" dirty="0" err="1"/>
              <a:t>엔터는</a:t>
            </a:r>
            <a:r>
              <a:rPr lang="ko-KR" altLang="en-US" dirty="0"/>
              <a:t> 시프트 </a:t>
            </a:r>
            <a:r>
              <a:rPr lang="ko-KR" altLang="en-US" dirty="0" err="1"/>
              <a:t>엔터로</a:t>
            </a:r>
            <a:endParaRPr lang="en-US" altLang="ko-KR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A0C9A8AA-7590-4D3D-8DDD-97CDAA2046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38575" y="6558727"/>
            <a:ext cx="2228850" cy="227169"/>
          </a:xfrm>
        </p:spPr>
        <p:txBody>
          <a:bodyPr rIns="0"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F3A57096-21A8-44ED-AF94-8A259496D2B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25C252-E7DD-6B3E-3A2A-FF4DD42D7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3868" y="183222"/>
            <a:ext cx="2723863" cy="217735"/>
          </a:xfrm>
          <a:prstGeom prst="rect">
            <a:avLst/>
          </a:prstGeom>
        </p:spPr>
      </p:pic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C1755CCF-F143-4C0B-BF11-9423A72FAB19}"/>
              </a:ext>
            </a:extLst>
          </p:cNvPr>
          <p:cNvSpPr/>
          <p:nvPr userDrawn="1"/>
        </p:nvSpPr>
        <p:spPr>
          <a:xfrm flipV="1">
            <a:off x="0" y="-1"/>
            <a:ext cx="338433" cy="335952"/>
          </a:xfrm>
          <a:prstGeom prst="rtTriangle">
            <a:avLst/>
          </a:prstGeom>
          <a:solidFill>
            <a:srgbClr val="0837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각 삼각형 8">
            <a:extLst>
              <a:ext uri="{FF2B5EF4-FFF2-40B4-BE49-F238E27FC236}">
                <a16:creationId xmlns:a16="http://schemas.microsoft.com/office/drawing/2014/main" id="{0C48AF91-12B6-4BD4-A640-497CC16E1DE1}"/>
              </a:ext>
            </a:extLst>
          </p:cNvPr>
          <p:cNvSpPr/>
          <p:nvPr userDrawn="1"/>
        </p:nvSpPr>
        <p:spPr>
          <a:xfrm flipV="1">
            <a:off x="0" y="335951"/>
            <a:ext cx="338433" cy="335951"/>
          </a:xfrm>
          <a:prstGeom prst="rtTriangle">
            <a:avLst/>
          </a:prstGeom>
          <a:solidFill>
            <a:srgbClr val="3E95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>
            <a:extLst>
              <a:ext uri="{FF2B5EF4-FFF2-40B4-BE49-F238E27FC236}">
                <a16:creationId xmlns:a16="http://schemas.microsoft.com/office/drawing/2014/main" id="{0388EC82-92ED-4BEE-A296-BE507F4E348F}"/>
              </a:ext>
            </a:extLst>
          </p:cNvPr>
          <p:cNvSpPr/>
          <p:nvPr userDrawn="1"/>
        </p:nvSpPr>
        <p:spPr>
          <a:xfrm flipV="1">
            <a:off x="338433" y="0"/>
            <a:ext cx="338433" cy="335951"/>
          </a:xfrm>
          <a:prstGeom prst="rtTriangle">
            <a:avLst/>
          </a:prstGeom>
          <a:solidFill>
            <a:srgbClr val="006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00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3A85F-5A81-4A2C-ADB7-CB9A7B252CB6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75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5">
            <a:extLst>
              <a:ext uri="{FF2B5EF4-FFF2-40B4-BE49-F238E27FC236}">
                <a16:creationId xmlns:a16="http://schemas.microsoft.com/office/drawing/2014/main" id="{61868E28-E971-4418-87EB-1ADB07E11B0C}"/>
              </a:ext>
            </a:extLst>
          </p:cNvPr>
          <p:cNvPicPr/>
          <p:nvPr/>
        </p:nvPicPr>
        <p:blipFill rotWithShape="1">
          <a:blip r:embed="rId3" cstate="print"/>
          <a:srcRect l="24516" r="21443"/>
          <a:stretch/>
        </p:blipFill>
        <p:spPr>
          <a:xfrm>
            <a:off x="5395457" y="0"/>
            <a:ext cx="4510544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98FC17-E489-49A1-A969-074DB6C0BB06}"/>
              </a:ext>
            </a:extLst>
          </p:cNvPr>
          <p:cNvSpPr txBox="1"/>
          <p:nvPr/>
        </p:nvSpPr>
        <p:spPr>
          <a:xfrm>
            <a:off x="614372" y="2841077"/>
            <a:ext cx="4648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2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사업명</a:t>
            </a:r>
            <a:r>
              <a:rPr lang="en-US" altLang="ko-KR" sz="2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r>
              <a:rPr lang="ko-KR" altLang="en-US" sz="2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제안서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7705E13-BD77-4F42-A08E-A222D687E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1" y="54905"/>
            <a:ext cx="907166" cy="1937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A39E339-B0D3-4404-96E1-2A662EE44842}"/>
              </a:ext>
            </a:extLst>
          </p:cNvPr>
          <p:cNvSpPr txBox="1"/>
          <p:nvPr/>
        </p:nvSpPr>
        <p:spPr>
          <a:xfrm>
            <a:off x="614372" y="3511918"/>
            <a:ext cx="4362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몇월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영어 표시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)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그해 년도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961EC1-6423-43C9-9D21-741DEB5453F7}"/>
              </a:ext>
            </a:extLst>
          </p:cNvPr>
          <p:cNvSpPr txBox="1"/>
          <p:nvPr/>
        </p:nvSpPr>
        <p:spPr>
          <a:xfrm>
            <a:off x="617034" y="2631106"/>
            <a:ext cx="3753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Information Memorandum</a:t>
            </a:r>
            <a:endParaRPr lang="ko-KR" altLang="en-US" sz="1100" dirty="0">
              <a:solidFill>
                <a:schemeClr val="bg1">
                  <a:lumMod val="6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60FC662-314C-4BDA-BD07-C0305AAF55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18" y="2372165"/>
            <a:ext cx="2665584" cy="21307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85BE55E-748C-4C4C-B871-BF424F682E6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43"/>
          <a:stretch/>
        </p:blipFill>
        <p:spPr>
          <a:xfrm>
            <a:off x="5015859" y="0"/>
            <a:ext cx="1038313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01DDD2D-8608-4BD7-9382-8E84A1BC90CC}"/>
              </a:ext>
            </a:extLst>
          </p:cNvPr>
          <p:cNvSpPr/>
          <p:nvPr/>
        </p:nvSpPr>
        <p:spPr>
          <a:xfrm>
            <a:off x="614372" y="5415975"/>
            <a:ext cx="4655311" cy="1173302"/>
          </a:xfrm>
          <a:prstGeom prst="rect">
            <a:avLst/>
          </a:prstGeom>
          <a:noFill/>
          <a:ln w="95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b="1" dirty="0">
                <a:solidFill>
                  <a:schemeClr val="tx1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[Disclaimer]</a:t>
            </a:r>
          </a:p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이 문서는 법적 구속력이 없으며 금융기관의 여신심사 과정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,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금융약정 체결을 위한 검토과정 등 향후 사정에 따라 사전 통지 없이 변경될 수 있고 실제로 이루어질 거래의 내용이나 구조와 상이할 수 있습니다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.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당사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(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)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는 본 금융조건에 대하여 최대한 정확하고 완전한 정보를 담고자 노력하였으나 이 문서에는 오류 또는 중요정보의 누락이 있을 수 있으며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,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당사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(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)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는 정보의 정확성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,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완전성 및 적정성에 대하여 어떠한 보증도 제공하지 않고 그에 관한 어떠한 의무도 부담하지 않습니다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.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이 문서는 당사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(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)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의 주관을 전제로 한 자금조달을 위하여 작성되었으며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, 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어떠한 경우에도 금융투자상품의 매수의 청약 권유 또는 매도의 청약으로 해석될 수 없고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,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귀사 이외의 제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3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자에게 제공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,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공개 또는 유출되어서는 안됩니다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0786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육각형 24">
            <a:extLst>
              <a:ext uri="{FF2B5EF4-FFF2-40B4-BE49-F238E27FC236}">
                <a16:creationId xmlns:a16="http://schemas.microsoft.com/office/drawing/2014/main" id="{34C4331A-3665-4D62-8E3C-7B11E0A556C4}"/>
              </a:ext>
            </a:extLst>
          </p:cNvPr>
          <p:cNvSpPr/>
          <p:nvPr/>
        </p:nvSpPr>
        <p:spPr>
          <a:xfrm>
            <a:off x="1187918" y="2952900"/>
            <a:ext cx="7530164" cy="1660710"/>
          </a:xfrm>
          <a:prstGeom prst="hexagon">
            <a:avLst>
              <a:gd name="adj" fmla="val 18529"/>
              <a:gd name="vf" fmla="val 115470"/>
            </a:avLst>
          </a:prstGeom>
          <a:solidFill>
            <a:srgbClr val="2E75B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육각형 25">
            <a:extLst>
              <a:ext uri="{FF2B5EF4-FFF2-40B4-BE49-F238E27FC236}">
                <a16:creationId xmlns:a16="http://schemas.microsoft.com/office/drawing/2014/main" id="{7BF180A2-A688-40F0-A757-2E6DE480716C}"/>
              </a:ext>
            </a:extLst>
          </p:cNvPr>
          <p:cNvSpPr/>
          <p:nvPr/>
        </p:nvSpPr>
        <p:spPr>
          <a:xfrm>
            <a:off x="1355774" y="2873664"/>
            <a:ext cx="7175041" cy="1873756"/>
          </a:xfrm>
          <a:prstGeom prst="hexagon">
            <a:avLst>
              <a:gd name="adj" fmla="val 18529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0AF0D2-5F4C-4C38-A7FF-0B4675AA3603}"/>
              </a:ext>
            </a:extLst>
          </p:cNvPr>
          <p:cNvSpPr txBox="1"/>
          <p:nvPr/>
        </p:nvSpPr>
        <p:spPr>
          <a:xfrm>
            <a:off x="1767382" y="2958072"/>
            <a:ext cx="6662480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낮은 인허가 리스크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‘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25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년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8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월 실시계획인가 및 건축심의 완료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, 26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년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4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월 사업계획 승인 완료 예정 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시공사 리스크 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시공사인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포스코이앤씨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도급순위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7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위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신용등급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A+)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‘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26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년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월 최종 수주심의 완료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도급계약 체결 선행 조건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낮은 토지확보 리스크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소유권 이전 완료 토지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81.48% (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 건 으로 소유권 확보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협의 완료 및 국공유지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12.48%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수용 예정 토지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6.04% (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 건 실행 후 바로 수용 신청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5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개월 이내 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수용권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확보 예정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41E9084-F64A-4CCB-9E24-CCECAF57FBE0}"/>
              </a:ext>
            </a:extLst>
          </p:cNvPr>
          <p:cNvGrpSpPr/>
          <p:nvPr/>
        </p:nvGrpSpPr>
        <p:grpSpPr>
          <a:xfrm>
            <a:off x="3060136" y="2301790"/>
            <a:ext cx="3507352" cy="369332"/>
            <a:chOff x="3444233" y="2876563"/>
            <a:chExt cx="3507352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03A4DD-9329-4E19-80B3-AB518AED9DF7}"/>
                </a:ext>
              </a:extLst>
            </p:cNvPr>
            <p:cNvSpPr txBox="1"/>
            <p:nvPr/>
          </p:nvSpPr>
          <p:spPr>
            <a:xfrm>
              <a:off x="3877044" y="2950734"/>
              <a:ext cx="3074541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높은 </a:t>
              </a:r>
              <a:r>
                <a:rPr lang="en-US" altLang="ko-KR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PF </a:t>
              </a:r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가능성</a:t>
              </a:r>
              <a:endPara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pic>
          <p:nvPicPr>
            <p:cNvPr id="28" name="Picture 5">
              <a:extLst>
                <a:ext uri="{FF2B5EF4-FFF2-40B4-BE49-F238E27FC236}">
                  <a16:creationId xmlns:a16="http://schemas.microsoft.com/office/drawing/2014/main" id="{736FA01C-D892-4AFA-A43A-F340517E9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4233" y="2876563"/>
              <a:ext cx="432811" cy="369332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95385EFC-6D1F-4C8B-9E55-DCEF4C3B0A0D}"/>
              </a:ext>
            </a:extLst>
          </p:cNvPr>
          <p:cNvGrpSpPr/>
          <p:nvPr/>
        </p:nvGrpSpPr>
        <p:grpSpPr>
          <a:xfrm>
            <a:off x="3210179" y="765094"/>
            <a:ext cx="3149195" cy="369812"/>
            <a:chOff x="3444234" y="1021819"/>
            <a:chExt cx="3149195" cy="36981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C2D9392-5288-4A54-8C00-DD983086C80D}"/>
                </a:ext>
              </a:extLst>
            </p:cNvPr>
            <p:cNvSpPr txBox="1"/>
            <p:nvPr/>
          </p:nvSpPr>
          <p:spPr>
            <a:xfrm>
              <a:off x="3877045" y="1114632"/>
              <a:ext cx="271638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Executive Summary</a:t>
              </a:r>
            </a:p>
          </p:txBody>
        </p:sp>
        <p:pic>
          <p:nvPicPr>
            <p:cNvPr id="16" name="Picture 5">
              <a:extLst>
                <a:ext uri="{FF2B5EF4-FFF2-40B4-BE49-F238E27FC236}">
                  <a16:creationId xmlns:a16="http://schemas.microsoft.com/office/drawing/2014/main" id="{CDA099DD-A4B4-41B6-875F-6FC47D0AE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4234" y="1021819"/>
              <a:ext cx="432811" cy="369332"/>
            </a:xfrm>
            <a:prstGeom prst="rect">
              <a:avLst/>
            </a:prstGeom>
          </p:spPr>
        </p:pic>
      </p:grpSp>
      <p:sp>
        <p:nvSpPr>
          <p:cNvPr id="6" name="육각형 5">
            <a:extLst>
              <a:ext uri="{FF2B5EF4-FFF2-40B4-BE49-F238E27FC236}">
                <a16:creationId xmlns:a16="http://schemas.microsoft.com/office/drawing/2014/main" id="{FA022E6C-0D6F-491B-9045-753EBB067A7C}"/>
              </a:ext>
            </a:extLst>
          </p:cNvPr>
          <p:cNvSpPr/>
          <p:nvPr/>
        </p:nvSpPr>
        <p:spPr>
          <a:xfrm>
            <a:off x="1187918" y="1436792"/>
            <a:ext cx="7530164" cy="579610"/>
          </a:xfrm>
          <a:prstGeom prst="hexagon">
            <a:avLst>
              <a:gd name="adj" fmla="val 18529"/>
              <a:gd name="vf" fmla="val 115470"/>
            </a:avLst>
          </a:prstGeom>
          <a:solidFill>
            <a:srgbClr val="2E75B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육각형 17">
            <a:extLst>
              <a:ext uri="{FF2B5EF4-FFF2-40B4-BE49-F238E27FC236}">
                <a16:creationId xmlns:a16="http://schemas.microsoft.com/office/drawing/2014/main" id="{248C9E92-D4B6-44A0-A5CC-0DC8126C63FD}"/>
              </a:ext>
            </a:extLst>
          </p:cNvPr>
          <p:cNvSpPr/>
          <p:nvPr/>
        </p:nvSpPr>
        <p:spPr>
          <a:xfrm>
            <a:off x="1323500" y="1412280"/>
            <a:ext cx="7258999" cy="627709"/>
          </a:xfrm>
          <a:prstGeom prst="hexagon">
            <a:avLst>
              <a:gd name="adj" fmla="val 18529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4ECF91-BE5D-49F6-80F0-6708354EDBCC}"/>
              </a:ext>
            </a:extLst>
          </p:cNvPr>
          <p:cNvSpPr txBox="1"/>
          <p:nvPr/>
        </p:nvSpPr>
        <p:spPr>
          <a:xfrm>
            <a:off x="1614745" y="1466674"/>
            <a:ext cx="6967754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 건 사업은 충청남도 천안시 </a:t>
            </a:r>
            <a:r>
              <a:rPr lang="ko-KR" alt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서북구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</a:t>
            </a:r>
            <a:r>
              <a:rPr lang="ko-KR" alt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부대동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354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번지 일원에 진행하는 천안 부성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지구 도시개발사업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미확보 필지 수용재결 절차 진행을 위한 토지 소유권 확보를 위한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토지담보 대출 중  </a:t>
            </a:r>
            <a:r>
              <a:rPr lang="en-US" altLang="ko-KR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Tr.B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를 기초자산으로 사모사채를 발행하는 건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7A59169B-13B4-44DC-8D9C-CD28E9943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317" y="181668"/>
            <a:ext cx="2716384" cy="213076"/>
          </a:xfrm>
          <a:prstGeom prst="rect">
            <a:avLst/>
          </a:prstGeom>
        </p:spPr>
      </p:pic>
      <p:sp>
        <p:nvSpPr>
          <p:cNvPr id="41" name="슬라이드 번호 개체 틀 1">
            <a:extLst>
              <a:ext uri="{FF2B5EF4-FFF2-40B4-BE49-F238E27FC236}">
                <a16:creationId xmlns:a16="http://schemas.microsoft.com/office/drawing/2014/main" id="{D7F47276-D647-49EF-BF3D-158D5D8E2650}"/>
              </a:ext>
            </a:extLst>
          </p:cNvPr>
          <p:cNvSpPr txBox="1">
            <a:spLocks/>
          </p:cNvSpPr>
          <p:nvPr/>
        </p:nvSpPr>
        <p:spPr>
          <a:xfrm>
            <a:off x="6669088" y="6605754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3A57096-21A8-44ED-AF94-8A259496D2BE}" type="slidenum">
              <a:rPr lang="en-US" altLang="en-US" b="1" smtClean="0">
                <a:solidFill>
                  <a:schemeClr val="tx1"/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pPr>
                <a:defRPr/>
              </a:pPr>
              <a:t>2</a:t>
            </a:fld>
            <a:endParaRPr lang="en-US" altLang="en-US" b="1" dirty="0">
              <a:solidFill>
                <a:schemeClr val="tx1"/>
              </a:solidFill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  <p:sp>
        <p:nvSpPr>
          <p:cNvPr id="42" name="슬라이드 번호 개체 틀 1">
            <a:extLst>
              <a:ext uri="{FF2B5EF4-FFF2-40B4-BE49-F238E27FC236}">
                <a16:creationId xmlns:a16="http://schemas.microsoft.com/office/drawing/2014/main" id="{FAB241E8-8D34-4664-B472-B4C5D1B7229A}"/>
              </a:ext>
            </a:extLst>
          </p:cNvPr>
          <p:cNvSpPr txBox="1">
            <a:spLocks/>
          </p:cNvSpPr>
          <p:nvPr/>
        </p:nvSpPr>
        <p:spPr>
          <a:xfrm>
            <a:off x="0" y="6605755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ko-KR" altLang="en-US" b="1" dirty="0">
                <a:solidFill>
                  <a:schemeClr val="tx1"/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신도림역 </a:t>
            </a:r>
            <a:r>
              <a:rPr lang="ko-KR" altLang="en-US" b="1" dirty="0" err="1">
                <a:solidFill>
                  <a:schemeClr val="tx1"/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디큐브시티</a:t>
            </a:r>
            <a:r>
              <a:rPr lang="ko-KR" altLang="en-US" b="1" dirty="0">
                <a:solidFill>
                  <a:schemeClr val="tx1"/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 복합시설 </a:t>
            </a:r>
            <a:r>
              <a:rPr lang="ko-KR" altLang="en-US" b="1" dirty="0" err="1">
                <a:solidFill>
                  <a:schemeClr val="tx1"/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리모델링사업</a:t>
            </a:r>
            <a:r>
              <a:rPr lang="ko-KR" altLang="en-US" b="1" dirty="0">
                <a:solidFill>
                  <a:schemeClr val="tx1"/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 담보대출</a:t>
            </a:r>
            <a:endParaRPr lang="en-US" altLang="en-US" b="1" dirty="0">
              <a:solidFill>
                <a:schemeClr val="tx1"/>
              </a:solidFill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  <p:sp>
        <p:nvSpPr>
          <p:cNvPr id="49" name="육각형 48">
            <a:extLst>
              <a:ext uri="{FF2B5EF4-FFF2-40B4-BE49-F238E27FC236}">
                <a16:creationId xmlns:a16="http://schemas.microsoft.com/office/drawing/2014/main" id="{239993E1-0C01-4E17-BE0A-BC1644DFAC08}"/>
              </a:ext>
            </a:extLst>
          </p:cNvPr>
          <p:cNvSpPr/>
          <p:nvPr/>
        </p:nvSpPr>
        <p:spPr>
          <a:xfrm>
            <a:off x="1191472" y="5738998"/>
            <a:ext cx="7530164" cy="432987"/>
          </a:xfrm>
          <a:prstGeom prst="hexagon">
            <a:avLst>
              <a:gd name="adj" fmla="val 18529"/>
              <a:gd name="vf" fmla="val 115470"/>
            </a:avLst>
          </a:prstGeom>
          <a:solidFill>
            <a:srgbClr val="2E75B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육각형 49">
            <a:extLst>
              <a:ext uri="{FF2B5EF4-FFF2-40B4-BE49-F238E27FC236}">
                <a16:creationId xmlns:a16="http://schemas.microsoft.com/office/drawing/2014/main" id="{A136C212-8876-4D18-8018-0CA3ADCF5B1E}"/>
              </a:ext>
            </a:extLst>
          </p:cNvPr>
          <p:cNvSpPr/>
          <p:nvPr/>
        </p:nvSpPr>
        <p:spPr>
          <a:xfrm>
            <a:off x="1327054" y="5722255"/>
            <a:ext cx="7258999" cy="471246"/>
          </a:xfrm>
          <a:prstGeom prst="hexagon">
            <a:avLst>
              <a:gd name="adj" fmla="val 18529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C8C1A4-BCFC-4519-AD02-88CF579F3C27}"/>
              </a:ext>
            </a:extLst>
          </p:cNvPr>
          <p:cNvSpPr txBox="1"/>
          <p:nvPr/>
        </p:nvSpPr>
        <p:spPr>
          <a:xfrm>
            <a:off x="1618299" y="5870351"/>
            <a:ext cx="634006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만기 발행일로부터 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6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개월 만기로 짧은 만기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92067F2-0826-4410-BEEC-2D631A516F41}"/>
              </a:ext>
            </a:extLst>
          </p:cNvPr>
          <p:cNvGrpSpPr/>
          <p:nvPr/>
        </p:nvGrpSpPr>
        <p:grpSpPr>
          <a:xfrm>
            <a:off x="3426583" y="5021994"/>
            <a:ext cx="2723494" cy="369332"/>
            <a:chOff x="3444233" y="2876563"/>
            <a:chExt cx="2723494" cy="36933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12047FC-63B7-4BC0-B5EC-40D9E992134B}"/>
                </a:ext>
              </a:extLst>
            </p:cNvPr>
            <p:cNvSpPr txBox="1"/>
            <p:nvPr/>
          </p:nvSpPr>
          <p:spPr>
            <a:xfrm>
              <a:off x="3877044" y="2950734"/>
              <a:ext cx="2290683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짧은 만기 상품</a:t>
              </a:r>
              <a:endPara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pic>
          <p:nvPicPr>
            <p:cNvPr id="54" name="Picture 5">
              <a:extLst>
                <a:ext uri="{FF2B5EF4-FFF2-40B4-BE49-F238E27FC236}">
                  <a16:creationId xmlns:a16="http://schemas.microsoft.com/office/drawing/2014/main" id="{CAEB3C60-2F1E-4039-A31C-C034B34DB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4233" y="2876563"/>
              <a:ext cx="432811" cy="369332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68CC97FC-1B27-4C77-821C-2DCDF26B9D39}"/>
              </a:ext>
            </a:extLst>
          </p:cNvPr>
          <p:cNvSpPr txBox="1"/>
          <p:nvPr/>
        </p:nvSpPr>
        <p:spPr>
          <a:xfrm>
            <a:off x="2447898" y="5452969"/>
            <a:ext cx="46808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latinLnBrk="1">
              <a:defRPr/>
            </a:pPr>
            <a:r>
              <a:rPr lang="ko-KR" altLang="en-US" sz="1050" dirty="0">
                <a:solidFill>
                  <a:srgbClr val="0070C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내용</a:t>
            </a:r>
            <a:endParaRPr lang="en-US" altLang="ko-KR" sz="1050" dirty="0">
              <a:solidFill>
                <a:srgbClr val="0070C0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3F20FE-E664-4607-AC8A-AF0D51E98894}"/>
              </a:ext>
            </a:extLst>
          </p:cNvPr>
          <p:cNvSpPr txBox="1"/>
          <p:nvPr/>
        </p:nvSpPr>
        <p:spPr>
          <a:xfrm>
            <a:off x="2447899" y="1131575"/>
            <a:ext cx="46808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latinLnBrk="1">
              <a:defRPr/>
            </a:pPr>
            <a:r>
              <a:rPr lang="ko-KR" altLang="en-US" sz="1050" dirty="0">
                <a:solidFill>
                  <a:srgbClr val="0070C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내용</a:t>
            </a:r>
            <a:endParaRPr lang="en-US" altLang="ko-KR" sz="1050" dirty="0">
              <a:solidFill>
                <a:srgbClr val="0070C0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734C14-F0F2-4C3A-98BB-CACF41BA612B}"/>
              </a:ext>
            </a:extLst>
          </p:cNvPr>
          <p:cNvSpPr txBox="1"/>
          <p:nvPr/>
        </p:nvSpPr>
        <p:spPr>
          <a:xfrm>
            <a:off x="2447899" y="2638009"/>
            <a:ext cx="46808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latinLnBrk="1">
              <a:defRPr/>
            </a:pPr>
            <a:r>
              <a:rPr lang="ko-KR" altLang="en-US" sz="1050" dirty="0">
                <a:solidFill>
                  <a:srgbClr val="0070C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내용</a:t>
            </a:r>
            <a:endParaRPr lang="en-US" altLang="ko-KR" sz="1050" dirty="0">
              <a:solidFill>
                <a:srgbClr val="0070C0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1971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0F480219-8797-4BD3-AE27-7C85F04AE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2" y="1"/>
            <a:ext cx="1302294" cy="685800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FC236CDE-1FA7-4850-9122-ACE5590F0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94" y="1"/>
            <a:ext cx="1324017" cy="6858000"/>
          </a:xfrm>
          <a:prstGeom prst="rect">
            <a:avLst/>
          </a:prstGeom>
        </p:spPr>
      </p:pic>
      <p:sp>
        <p:nvSpPr>
          <p:cNvPr id="29" name="TextBox 45">
            <a:extLst>
              <a:ext uri="{FF2B5EF4-FFF2-40B4-BE49-F238E27FC236}">
                <a16:creationId xmlns:a16="http://schemas.microsoft.com/office/drawing/2014/main" id="{8EE14628-E83D-440B-A90E-6369AAEC836F}"/>
              </a:ext>
            </a:extLst>
          </p:cNvPr>
          <p:cNvSpPr txBox="1"/>
          <p:nvPr/>
        </p:nvSpPr>
        <p:spPr>
          <a:xfrm>
            <a:off x="3943482" y="1103621"/>
            <a:ext cx="2879940" cy="57708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4415"/>
              </a:lnSpc>
              <a:spcBef>
                <a:spcPct val="0"/>
              </a:spcBef>
            </a:pPr>
            <a:r>
              <a:rPr lang="en-US" sz="4000" b="1" spc="121" dirty="0">
                <a:solidFill>
                  <a:srgbClr val="08377C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Montserrat Bold"/>
                <a:sym typeface="Montserrat Bold"/>
              </a:rPr>
              <a:t>CONTENTS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E50DD1-D286-46E5-9EE1-6293888C068F}"/>
              </a:ext>
            </a:extLst>
          </p:cNvPr>
          <p:cNvSpPr txBox="1"/>
          <p:nvPr/>
        </p:nvSpPr>
        <p:spPr>
          <a:xfrm>
            <a:off x="2684979" y="2203347"/>
            <a:ext cx="18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01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 개요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35B50A-0595-4C49-B528-1C639C505BF5}"/>
              </a:ext>
            </a:extLst>
          </p:cNvPr>
          <p:cNvSpPr txBox="1"/>
          <p:nvPr/>
        </p:nvSpPr>
        <p:spPr>
          <a:xfrm>
            <a:off x="2684979" y="4599713"/>
            <a:ext cx="1345524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02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금융개요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143523-5995-4344-8507-6A95EB6BFC25}"/>
              </a:ext>
            </a:extLst>
          </p:cNvPr>
          <p:cNvSpPr txBox="1"/>
          <p:nvPr/>
        </p:nvSpPr>
        <p:spPr>
          <a:xfrm>
            <a:off x="6397222" y="2182378"/>
            <a:ext cx="192635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03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사업 개요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45A10F-51D0-4082-A416-C2AFF309052B}"/>
              </a:ext>
            </a:extLst>
          </p:cNvPr>
          <p:cNvSpPr txBox="1"/>
          <p:nvPr/>
        </p:nvSpPr>
        <p:spPr>
          <a:xfrm>
            <a:off x="6397222" y="4578744"/>
            <a:ext cx="1587295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04  Appendix</a:t>
            </a:r>
            <a:endParaRPr lang="ko-KR" altLang="en-US" sz="2000" dirty="0">
              <a:solidFill>
                <a:schemeClr val="accent1">
                  <a:lumMod val="7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7C29AF-93AF-4BBC-BE8A-D1D8D5CABD65}"/>
              </a:ext>
            </a:extLst>
          </p:cNvPr>
          <p:cNvSpPr txBox="1"/>
          <p:nvPr/>
        </p:nvSpPr>
        <p:spPr>
          <a:xfrm>
            <a:off x="3081285" y="2511124"/>
            <a:ext cx="1348318" cy="2539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1.1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사모사채</a:t>
            </a: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개요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FDCC0F-7162-4AB5-B0EA-3B4E5E8EA6B0}"/>
              </a:ext>
            </a:extLst>
          </p:cNvPr>
          <p:cNvSpPr txBox="1"/>
          <p:nvPr/>
        </p:nvSpPr>
        <p:spPr>
          <a:xfrm>
            <a:off x="3126851" y="4931650"/>
            <a:ext cx="1663917" cy="5309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투자구조도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2.2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기초자산 금융조건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0AB626-2451-4571-A306-B6F61A1CB25B}"/>
              </a:ext>
            </a:extLst>
          </p:cNvPr>
          <p:cNvSpPr txBox="1"/>
          <p:nvPr/>
        </p:nvSpPr>
        <p:spPr>
          <a:xfrm>
            <a:off x="6871314" y="2534217"/>
            <a:ext cx="1926353" cy="5309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3.1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사업개요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3.2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부제목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62C638-33B8-48F9-B292-D92156DDA980}"/>
              </a:ext>
            </a:extLst>
          </p:cNvPr>
          <p:cNvSpPr txBox="1"/>
          <p:nvPr/>
        </p:nvSpPr>
        <p:spPr>
          <a:xfrm>
            <a:off x="6865578" y="4896994"/>
            <a:ext cx="633379" cy="2539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4.1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부제목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2D6AC7F-9894-4E25-9A29-28AB65CB68EE}"/>
              </a:ext>
            </a:extLst>
          </p:cNvPr>
          <p:cNvGrpSpPr/>
          <p:nvPr/>
        </p:nvGrpSpPr>
        <p:grpSpPr>
          <a:xfrm>
            <a:off x="31682" y="2200275"/>
            <a:ext cx="2484000" cy="2484000"/>
            <a:chOff x="31682" y="2200275"/>
            <a:chExt cx="2484000" cy="2484000"/>
          </a:xfrm>
        </p:grpSpPr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E48C7CEE-BAA1-4AFE-82FB-E5CA4A3B2AD6}"/>
                </a:ext>
              </a:extLst>
            </p:cNvPr>
            <p:cNvSpPr/>
            <p:nvPr/>
          </p:nvSpPr>
          <p:spPr>
            <a:xfrm>
              <a:off x="31682" y="2200275"/>
              <a:ext cx="2484000" cy="2484000"/>
            </a:xfrm>
            <a:custGeom>
              <a:avLst/>
              <a:gdLst/>
              <a:ahLst/>
              <a:cxnLst/>
              <a:rect l="l" t="t" r="r" b="b"/>
              <a:pathLst>
                <a:path w="8476683" h="8473151">
                  <a:moveTo>
                    <a:pt x="0" y="0"/>
                  </a:moveTo>
                  <a:lnTo>
                    <a:pt x="8476683" y="0"/>
                  </a:lnTo>
                  <a:lnTo>
                    <a:pt x="8476683" y="8473151"/>
                  </a:lnTo>
                  <a:lnTo>
                    <a:pt x="0" y="8473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grpSp>
          <p:nvGrpSpPr>
            <p:cNvPr id="22" name="Group 27">
              <a:extLst>
                <a:ext uri="{FF2B5EF4-FFF2-40B4-BE49-F238E27FC236}">
                  <a16:creationId xmlns:a16="http://schemas.microsoft.com/office/drawing/2014/main" id="{8D849133-720F-4AE4-8EBB-2BC27CE74F50}"/>
                </a:ext>
              </a:extLst>
            </p:cNvPr>
            <p:cNvGrpSpPr/>
            <p:nvPr/>
          </p:nvGrpSpPr>
          <p:grpSpPr>
            <a:xfrm>
              <a:off x="198221" y="2394496"/>
              <a:ext cx="2101462" cy="2126410"/>
              <a:chOff x="0" y="0"/>
              <a:chExt cx="812800" cy="812800"/>
            </a:xfrm>
          </p:grpSpPr>
          <p:sp>
            <p:nvSpPr>
              <p:cNvPr id="24" name="Freeform 28">
                <a:extLst>
                  <a:ext uri="{FF2B5EF4-FFF2-40B4-BE49-F238E27FC236}">
                    <a16:creationId xmlns:a16="http://schemas.microsoft.com/office/drawing/2014/main" id="{2CFCDE1C-A8C3-4EBC-83A3-99AD7CB41A4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3A7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9">
                <a:extLst>
                  <a:ext uri="{FF2B5EF4-FFF2-40B4-BE49-F238E27FC236}">
                    <a16:creationId xmlns:a16="http://schemas.microsoft.com/office/drawing/2014/main" id="{0B38D8D4-BE29-4E41-99B3-9B543D37881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27517" tIns="27517" rIns="27517" bIns="27517" rtlCol="0" anchor="ctr"/>
              <a:lstStyle/>
              <a:p>
                <a:pPr algn="ctr">
                  <a:lnSpc>
                    <a:spcPts val="1668"/>
                  </a:lnSpc>
                  <a:spcBef>
                    <a:spcPct val="0"/>
                  </a:spcBef>
                </a:pPr>
                <a:endParaRPr sz="572"/>
              </a:p>
            </p:txBody>
          </p:sp>
        </p:grpSp>
        <p:sp>
          <p:nvSpPr>
            <p:cNvPr id="23" name="Freeform 35">
              <a:extLst>
                <a:ext uri="{FF2B5EF4-FFF2-40B4-BE49-F238E27FC236}">
                  <a16:creationId xmlns:a16="http://schemas.microsoft.com/office/drawing/2014/main" id="{E8EC7D96-457E-497A-B700-2ED7081D2326}"/>
                </a:ext>
              </a:extLst>
            </p:cNvPr>
            <p:cNvSpPr/>
            <p:nvPr/>
          </p:nvSpPr>
          <p:spPr>
            <a:xfrm rot="5400000" flipH="1">
              <a:off x="-428568" y="2941955"/>
              <a:ext cx="2202681" cy="1025550"/>
            </a:xfrm>
            <a:custGeom>
              <a:avLst/>
              <a:gdLst/>
              <a:ahLst/>
              <a:cxnLst/>
              <a:rect l="l" t="t" r="r" b="b"/>
              <a:pathLst>
                <a:path w="7715094" h="3707614">
                  <a:moveTo>
                    <a:pt x="0" y="0"/>
                  </a:moveTo>
                  <a:lnTo>
                    <a:pt x="7715094" y="0"/>
                  </a:lnTo>
                  <a:lnTo>
                    <a:pt x="7715094" y="3707614"/>
                  </a:lnTo>
                  <a:lnTo>
                    <a:pt x="0" y="3707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5935"/>
              </a:stretch>
            </a:blipFill>
          </p:spPr>
        </p:sp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5C226EE5-97BC-44A8-AFC3-45859143DD85}"/>
              </a:ext>
            </a:extLst>
          </p:cNvPr>
          <p:cNvSpPr/>
          <p:nvPr/>
        </p:nvSpPr>
        <p:spPr>
          <a:xfrm>
            <a:off x="302736" y="2502720"/>
            <a:ext cx="1893600" cy="19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076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0F480219-8797-4BD3-AE27-7C85F04AE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2" y="1"/>
            <a:ext cx="1302294" cy="685800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FC236CDE-1FA7-4850-9122-ACE5590F0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94" y="1"/>
            <a:ext cx="1324017" cy="6858000"/>
          </a:xfrm>
          <a:prstGeom prst="rect">
            <a:avLst/>
          </a:prstGeom>
        </p:spPr>
      </p:pic>
      <p:sp>
        <p:nvSpPr>
          <p:cNvPr id="29" name="TextBox 45">
            <a:extLst>
              <a:ext uri="{FF2B5EF4-FFF2-40B4-BE49-F238E27FC236}">
                <a16:creationId xmlns:a16="http://schemas.microsoft.com/office/drawing/2014/main" id="{8EE14628-E83D-440B-A90E-6369AAEC836F}"/>
              </a:ext>
            </a:extLst>
          </p:cNvPr>
          <p:cNvSpPr txBox="1"/>
          <p:nvPr/>
        </p:nvSpPr>
        <p:spPr>
          <a:xfrm>
            <a:off x="3943482" y="1103621"/>
            <a:ext cx="2879940" cy="57708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4415"/>
              </a:lnSpc>
              <a:spcBef>
                <a:spcPct val="0"/>
              </a:spcBef>
            </a:pPr>
            <a:r>
              <a:rPr lang="en-US" sz="4000" b="1" spc="121" dirty="0">
                <a:solidFill>
                  <a:srgbClr val="08377C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Montserrat Bold"/>
                <a:sym typeface="Montserrat Bold"/>
              </a:rPr>
              <a:t>CONTENTS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E50DD1-D286-46E5-9EE1-6293888C068F}"/>
              </a:ext>
            </a:extLst>
          </p:cNvPr>
          <p:cNvSpPr txBox="1"/>
          <p:nvPr/>
        </p:nvSpPr>
        <p:spPr>
          <a:xfrm>
            <a:off x="2515682" y="2291420"/>
            <a:ext cx="18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01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 개요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35B50A-0595-4C49-B528-1C639C505BF5}"/>
              </a:ext>
            </a:extLst>
          </p:cNvPr>
          <p:cNvSpPr txBox="1"/>
          <p:nvPr/>
        </p:nvSpPr>
        <p:spPr>
          <a:xfrm>
            <a:off x="4771848" y="2281895"/>
            <a:ext cx="1345524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02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금융개요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143523-5995-4344-8507-6A95EB6BFC25}"/>
              </a:ext>
            </a:extLst>
          </p:cNvPr>
          <p:cNvSpPr txBox="1"/>
          <p:nvPr/>
        </p:nvSpPr>
        <p:spPr>
          <a:xfrm>
            <a:off x="6934154" y="2193943"/>
            <a:ext cx="192635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03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사업 개요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45A10F-51D0-4082-A416-C2AFF309052B}"/>
              </a:ext>
            </a:extLst>
          </p:cNvPr>
          <p:cNvSpPr txBox="1"/>
          <p:nvPr/>
        </p:nvSpPr>
        <p:spPr>
          <a:xfrm>
            <a:off x="2514434" y="4302960"/>
            <a:ext cx="1587295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04  Appendix</a:t>
            </a:r>
            <a:endParaRPr lang="ko-KR" altLang="en-US" sz="2000" dirty="0">
              <a:solidFill>
                <a:schemeClr val="accent1">
                  <a:lumMod val="7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7C29AF-93AF-4BBC-BE8A-D1D8D5CABD65}"/>
              </a:ext>
            </a:extLst>
          </p:cNvPr>
          <p:cNvSpPr txBox="1"/>
          <p:nvPr/>
        </p:nvSpPr>
        <p:spPr>
          <a:xfrm>
            <a:off x="2904148" y="2618347"/>
            <a:ext cx="1348318" cy="2539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1.1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사모사채</a:t>
            </a: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개요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FDCC0F-7162-4AB5-B0EA-3B4E5E8EA6B0}"/>
              </a:ext>
            </a:extLst>
          </p:cNvPr>
          <p:cNvSpPr txBox="1"/>
          <p:nvPr/>
        </p:nvSpPr>
        <p:spPr>
          <a:xfrm>
            <a:off x="5201176" y="2623600"/>
            <a:ext cx="1663917" cy="5309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투자 구조도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2.2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기초자산 금융조건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0AB626-2451-4571-A306-B6F61A1CB25B}"/>
              </a:ext>
            </a:extLst>
          </p:cNvPr>
          <p:cNvSpPr txBox="1"/>
          <p:nvPr/>
        </p:nvSpPr>
        <p:spPr>
          <a:xfrm>
            <a:off x="7368516" y="2543965"/>
            <a:ext cx="764825" cy="5309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3.1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사업개요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3.2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부제목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62C638-33B8-48F9-B292-D92156DDA980}"/>
              </a:ext>
            </a:extLst>
          </p:cNvPr>
          <p:cNvSpPr txBox="1"/>
          <p:nvPr/>
        </p:nvSpPr>
        <p:spPr>
          <a:xfrm>
            <a:off x="2943059" y="4651559"/>
            <a:ext cx="633379" cy="2539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4.1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부제목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0C91072-6AEE-4C03-BC7F-A890C9321A47}"/>
              </a:ext>
            </a:extLst>
          </p:cNvPr>
          <p:cNvGrpSpPr/>
          <p:nvPr/>
        </p:nvGrpSpPr>
        <p:grpSpPr>
          <a:xfrm>
            <a:off x="31682" y="2200275"/>
            <a:ext cx="2484000" cy="2484000"/>
            <a:chOff x="31682" y="2200275"/>
            <a:chExt cx="2484000" cy="2484000"/>
          </a:xfrm>
        </p:grpSpPr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28A15163-1941-41DA-86EC-260AA91A6E43}"/>
                </a:ext>
              </a:extLst>
            </p:cNvPr>
            <p:cNvSpPr/>
            <p:nvPr/>
          </p:nvSpPr>
          <p:spPr>
            <a:xfrm>
              <a:off x="31682" y="2200275"/>
              <a:ext cx="2484000" cy="2484000"/>
            </a:xfrm>
            <a:custGeom>
              <a:avLst/>
              <a:gdLst/>
              <a:ahLst/>
              <a:cxnLst/>
              <a:rect l="l" t="t" r="r" b="b"/>
              <a:pathLst>
                <a:path w="8476683" h="8473151">
                  <a:moveTo>
                    <a:pt x="0" y="0"/>
                  </a:moveTo>
                  <a:lnTo>
                    <a:pt x="8476683" y="0"/>
                  </a:lnTo>
                  <a:lnTo>
                    <a:pt x="8476683" y="8473151"/>
                  </a:lnTo>
                  <a:lnTo>
                    <a:pt x="0" y="8473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grpSp>
          <p:nvGrpSpPr>
            <p:cNvPr id="54" name="Group 27">
              <a:extLst>
                <a:ext uri="{FF2B5EF4-FFF2-40B4-BE49-F238E27FC236}">
                  <a16:creationId xmlns:a16="http://schemas.microsoft.com/office/drawing/2014/main" id="{73E3FFAB-C0EA-4830-A4E8-4AEEADB58814}"/>
                </a:ext>
              </a:extLst>
            </p:cNvPr>
            <p:cNvGrpSpPr/>
            <p:nvPr/>
          </p:nvGrpSpPr>
          <p:grpSpPr>
            <a:xfrm>
              <a:off x="198221" y="2394496"/>
              <a:ext cx="2101462" cy="2126410"/>
              <a:chOff x="0" y="0"/>
              <a:chExt cx="812800" cy="812800"/>
            </a:xfrm>
          </p:grpSpPr>
          <p:sp>
            <p:nvSpPr>
              <p:cNvPr id="55" name="Freeform 28">
                <a:extLst>
                  <a:ext uri="{FF2B5EF4-FFF2-40B4-BE49-F238E27FC236}">
                    <a16:creationId xmlns:a16="http://schemas.microsoft.com/office/drawing/2014/main" id="{2F1C62CB-D090-4728-A13F-E198779CCB1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3A7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6" name="TextBox 29">
                <a:extLst>
                  <a:ext uri="{FF2B5EF4-FFF2-40B4-BE49-F238E27FC236}">
                    <a16:creationId xmlns:a16="http://schemas.microsoft.com/office/drawing/2014/main" id="{584FEC31-5AA0-4A82-BB69-B6D2DF8AD95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27517" tIns="27517" rIns="27517" bIns="27517" rtlCol="0" anchor="ctr"/>
              <a:lstStyle/>
              <a:p>
                <a:pPr algn="ctr">
                  <a:lnSpc>
                    <a:spcPts val="1668"/>
                  </a:lnSpc>
                  <a:spcBef>
                    <a:spcPct val="0"/>
                  </a:spcBef>
                </a:pPr>
                <a:endParaRPr sz="572"/>
              </a:p>
            </p:txBody>
          </p:sp>
        </p:grpSp>
        <p:sp>
          <p:nvSpPr>
            <p:cNvPr id="58" name="Freeform 35">
              <a:extLst>
                <a:ext uri="{FF2B5EF4-FFF2-40B4-BE49-F238E27FC236}">
                  <a16:creationId xmlns:a16="http://schemas.microsoft.com/office/drawing/2014/main" id="{74D6FA4D-E67D-4CDA-B453-21C414F80EA1}"/>
                </a:ext>
              </a:extLst>
            </p:cNvPr>
            <p:cNvSpPr/>
            <p:nvPr/>
          </p:nvSpPr>
          <p:spPr>
            <a:xfrm rot="5400000" flipH="1">
              <a:off x="-428568" y="2941955"/>
              <a:ext cx="2202681" cy="1025550"/>
            </a:xfrm>
            <a:custGeom>
              <a:avLst/>
              <a:gdLst/>
              <a:ahLst/>
              <a:cxnLst/>
              <a:rect l="l" t="t" r="r" b="b"/>
              <a:pathLst>
                <a:path w="7715094" h="3707614">
                  <a:moveTo>
                    <a:pt x="0" y="0"/>
                  </a:moveTo>
                  <a:lnTo>
                    <a:pt x="7715094" y="0"/>
                  </a:lnTo>
                  <a:lnTo>
                    <a:pt x="7715094" y="3707614"/>
                  </a:lnTo>
                  <a:lnTo>
                    <a:pt x="0" y="3707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5935"/>
              </a:stretch>
            </a:blipFill>
          </p:spPr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C2AFDFC-B3D4-4F58-AC03-292C00DBB9AD}"/>
              </a:ext>
            </a:extLst>
          </p:cNvPr>
          <p:cNvSpPr txBox="1"/>
          <p:nvPr/>
        </p:nvSpPr>
        <p:spPr>
          <a:xfrm>
            <a:off x="4721444" y="4302960"/>
            <a:ext cx="1587295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05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제목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943EE5-6A16-416E-BFE3-090CF8B45BD2}"/>
              </a:ext>
            </a:extLst>
          </p:cNvPr>
          <p:cNvSpPr txBox="1"/>
          <p:nvPr/>
        </p:nvSpPr>
        <p:spPr>
          <a:xfrm>
            <a:off x="5150069" y="4651559"/>
            <a:ext cx="630173" cy="2539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5.1 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부제목</a:t>
            </a:r>
            <a:endParaRPr lang="en-US" altLang="ko-KR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1F41B9F-3F37-45F4-BD59-25A29290BCF1}"/>
              </a:ext>
            </a:extLst>
          </p:cNvPr>
          <p:cNvSpPr/>
          <p:nvPr/>
        </p:nvSpPr>
        <p:spPr>
          <a:xfrm>
            <a:off x="302736" y="2502720"/>
            <a:ext cx="1893600" cy="19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772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B4C0DED-FC0A-4276-BB06-0290D081D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24" t="35068" r="5643" b="19413"/>
          <a:stretch/>
        </p:blipFill>
        <p:spPr>
          <a:xfrm>
            <a:off x="-1" y="4136207"/>
            <a:ext cx="9906001" cy="246396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980A85A-E26B-499D-917A-7A1FBA6E9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3" y="257826"/>
            <a:ext cx="2665584" cy="21307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48E2BFD-FD71-4F48-BF21-AB8A94311C31}"/>
              </a:ext>
            </a:extLst>
          </p:cNvPr>
          <p:cNvSpPr txBox="1"/>
          <p:nvPr/>
        </p:nvSpPr>
        <p:spPr>
          <a:xfrm>
            <a:off x="1169067" y="2953758"/>
            <a:ext cx="361439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01 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 개요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265187D-4FEE-459D-88AD-AD8F2F3CC016}"/>
              </a:ext>
            </a:extLst>
          </p:cNvPr>
          <p:cNvGrpSpPr/>
          <p:nvPr/>
        </p:nvGrpSpPr>
        <p:grpSpPr>
          <a:xfrm>
            <a:off x="1271800" y="3565688"/>
            <a:ext cx="2228799" cy="338554"/>
            <a:chOff x="1450226" y="3100952"/>
            <a:chExt cx="2228799" cy="33855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965C9E3-74F0-4799-B694-AD75DD9D024F}"/>
                </a:ext>
              </a:extLst>
            </p:cNvPr>
            <p:cNvSpPr txBox="1"/>
            <p:nvPr/>
          </p:nvSpPr>
          <p:spPr>
            <a:xfrm>
              <a:off x="1952270" y="3100952"/>
              <a:ext cx="17267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본건 사모사채</a:t>
              </a:r>
              <a:r>
                <a:rPr lang="en-US" altLang="ko-KR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 </a:t>
              </a:r>
              <a:r>
                <a:rPr lang="ko-KR" altLang="en-US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개요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86534D3-E6A9-4DD9-8FB9-1C6CDC2E254A}"/>
                </a:ext>
              </a:extLst>
            </p:cNvPr>
            <p:cNvSpPr txBox="1"/>
            <p:nvPr/>
          </p:nvSpPr>
          <p:spPr>
            <a:xfrm>
              <a:off x="1450226" y="3100952"/>
              <a:ext cx="4061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1.1</a:t>
              </a:r>
            </a:p>
          </p:txBody>
        </p:sp>
      </p:grpSp>
      <p:sp>
        <p:nvSpPr>
          <p:cNvPr id="33" name="타원 32">
            <a:extLst>
              <a:ext uri="{FF2B5EF4-FFF2-40B4-BE49-F238E27FC236}">
                <a16:creationId xmlns:a16="http://schemas.microsoft.com/office/drawing/2014/main" id="{EC3BE9A4-2108-40FA-A75C-0E2A5E8BDAE8}"/>
              </a:ext>
            </a:extLst>
          </p:cNvPr>
          <p:cNvSpPr/>
          <p:nvPr/>
        </p:nvSpPr>
        <p:spPr>
          <a:xfrm>
            <a:off x="6256041" y="2960411"/>
            <a:ext cx="3132000" cy="313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B12FD72-5164-4E83-84EC-9AFB7C02874F}"/>
              </a:ext>
            </a:extLst>
          </p:cNvPr>
          <p:cNvSpPr/>
          <p:nvPr/>
        </p:nvSpPr>
        <p:spPr>
          <a:xfrm>
            <a:off x="6479253" y="3164844"/>
            <a:ext cx="2680631" cy="2723133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9F74AEA9-95AD-4FC6-BE8D-E471F1DAAABC}"/>
              </a:ext>
            </a:extLst>
          </p:cNvPr>
          <p:cNvSpPr/>
          <p:nvPr/>
        </p:nvSpPr>
        <p:spPr>
          <a:xfrm>
            <a:off x="5877822" y="264438"/>
            <a:ext cx="3492000" cy="34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A81E6EE-BE3B-41CD-8EE7-815D58071242}"/>
              </a:ext>
            </a:extLst>
          </p:cNvPr>
          <p:cNvSpPr/>
          <p:nvPr/>
        </p:nvSpPr>
        <p:spPr>
          <a:xfrm>
            <a:off x="6146441" y="495050"/>
            <a:ext cx="2959819" cy="3045868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7267841C-0786-4ADF-9D01-3C5706666DDE}"/>
              </a:ext>
            </a:extLst>
          </p:cNvPr>
          <p:cNvSpPr/>
          <p:nvPr/>
        </p:nvSpPr>
        <p:spPr>
          <a:xfrm>
            <a:off x="4893066" y="2222958"/>
            <a:ext cx="2448000" cy="2448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98153E9-F9DA-4B46-A2AF-7E0BA1BE16F7}"/>
              </a:ext>
            </a:extLst>
          </p:cNvPr>
          <p:cNvSpPr/>
          <p:nvPr/>
        </p:nvSpPr>
        <p:spPr>
          <a:xfrm>
            <a:off x="5091944" y="2395729"/>
            <a:ext cx="2072556" cy="2085592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797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536741"/>
              </p:ext>
            </p:extLst>
          </p:nvPr>
        </p:nvGraphicFramePr>
        <p:xfrm>
          <a:off x="393697" y="1381125"/>
          <a:ext cx="9118604" cy="5148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6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442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사모사채명</a:t>
                      </a:r>
                    </a:p>
                  </a:txBody>
                  <a:tcPr marL="51192" marR="51192" marT="711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TBD(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신규 유동화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SPC) 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제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회 무기명식 무보증 사모사채</a:t>
                      </a:r>
                    </a:p>
                  </a:txBody>
                  <a:tcPr marL="51192" marR="51192" marT="711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442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사채 유형</a:t>
                      </a:r>
                    </a:p>
                  </a:txBody>
                  <a:tcPr marL="51192" marR="51192" marT="711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국내 전자등록 또는 실물 발행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무기명식 무보증 사모사채</a:t>
                      </a:r>
                    </a:p>
                  </a:txBody>
                  <a:tcPr marL="51192" marR="51192" marT="711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442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발행인</a:t>
                      </a:r>
                    </a:p>
                  </a:txBody>
                  <a:tcPr marL="51192" marR="51192" marT="711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TBD(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신규 유동화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SPC)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442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기초자산</a:t>
                      </a:r>
                    </a:p>
                  </a:txBody>
                  <a:tcPr marL="51192" marR="51192" marT="711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서울특별시 구로구 신도림동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692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번지 업무시설 및 판매시설 </a:t>
                      </a:r>
                      <a:r>
                        <a:rPr lang="ko-KR" altLang="en-US" sz="1050" b="0" kern="1200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리모델링사업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Tr. C 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담보대출</a:t>
                      </a:r>
                    </a:p>
                  </a:txBody>
                  <a:tcPr marL="51192" marR="51192" marT="711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442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발행금액</a:t>
                      </a:r>
                    </a:p>
                  </a:txBody>
                  <a:tcPr marL="51192" marR="51192" marT="711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[ 00 ]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억원 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₩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000,000,000,000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442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발행일</a:t>
                      </a:r>
                    </a:p>
                  </a:txBody>
                  <a:tcPr marL="51192" marR="51192" marT="711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XXXX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XX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XX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일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예정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851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만기일</a:t>
                      </a:r>
                    </a:p>
                  </a:txBody>
                  <a:tcPr marL="51192" marR="51192" marT="711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XXXX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년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XX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XX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일 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예정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투자기간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XX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개월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51192" marR="51192" marT="711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4851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금융조건</a:t>
                      </a:r>
                    </a:p>
                  </a:txBody>
                  <a:tcPr marL="51192" marR="51192" marT="711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채권 금리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: 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연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[ 0.0 ]% (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고정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세전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 / 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수수료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: [ 0.0 ]% (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선취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 / AII-in 10.80%</a:t>
                      </a:r>
                    </a:p>
                  </a:txBody>
                  <a:tcPr marL="51192" marR="51192" marT="711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849041"/>
                  </a:ext>
                </a:extLst>
              </a:tr>
              <a:tr h="568442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이자지급주기</a:t>
                      </a:r>
                    </a:p>
                  </a:txBody>
                  <a:tcPr marL="51192" marR="51192" marT="711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매 </a:t>
                      </a:r>
                      <a:r>
                        <a:rPr 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[X]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개월 단위 선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후취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고정 또는 변동금리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421565"/>
                  </a:ext>
                </a:extLst>
              </a:tr>
            </a:tbl>
          </a:graphicData>
        </a:graphic>
      </p:graphicFrame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01 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사모사채개요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745B4E01-8E51-938E-3086-5CA353FEBC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700" y="588702"/>
            <a:ext cx="3228975" cy="265509"/>
          </a:xfrm>
        </p:spPr>
        <p:txBody>
          <a:bodyPr/>
          <a:lstStyle/>
          <a:p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1.1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 건 사모사채 개요</a:t>
            </a:r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DF61AA6A-9026-4FEB-92ED-87EA3BB075CD}"/>
              </a:ext>
            </a:extLst>
          </p:cNvPr>
          <p:cNvSpPr txBox="1">
            <a:spLocks/>
          </p:cNvSpPr>
          <p:nvPr/>
        </p:nvSpPr>
        <p:spPr>
          <a:xfrm>
            <a:off x="393698" y="823870"/>
            <a:ext cx="6960563" cy="489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사모사채는 의정부 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LH </a:t>
            </a: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매입약정사업 사업비 대출을 기초자산으로 발생되는 </a:t>
            </a:r>
            <a:r>
              <a:rPr lang="ko-KR" altLang="en-US" sz="1000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사모사채입니다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.</a:t>
            </a:r>
            <a:endParaRPr lang="ko-KR" altLang="en-US" sz="10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BD06A368-73D9-4450-8353-A779E827CF91}"/>
              </a:ext>
            </a:extLst>
          </p:cNvPr>
          <p:cNvSpPr txBox="1">
            <a:spLocks/>
          </p:cNvSpPr>
          <p:nvPr/>
        </p:nvSpPr>
        <p:spPr>
          <a:xfrm>
            <a:off x="6669088" y="6605754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3A57096-21A8-44ED-AF94-8A259496D2BE}" type="slidenum">
              <a:rPr lang="en-US" altLang="en-US" b="1" smtClean="0">
                <a:solidFill>
                  <a:schemeClr val="tx1"/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pPr>
                <a:defRPr/>
              </a:pPr>
              <a:t>6</a:t>
            </a:fld>
            <a:endParaRPr lang="en-US" altLang="en-US" b="1" dirty="0">
              <a:solidFill>
                <a:schemeClr val="tx1"/>
              </a:solidFill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018484CE-F6A5-4181-9470-2A813098A90F}"/>
              </a:ext>
            </a:extLst>
          </p:cNvPr>
          <p:cNvSpPr txBox="1">
            <a:spLocks/>
          </p:cNvSpPr>
          <p:nvPr/>
        </p:nvSpPr>
        <p:spPr>
          <a:xfrm>
            <a:off x="0" y="6605755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ko-KR" altLang="en-US" b="1" dirty="0">
                <a:solidFill>
                  <a:schemeClr val="tx1"/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사업명</a:t>
            </a:r>
            <a:endParaRPr lang="en-US" altLang="en-US" b="1" dirty="0">
              <a:solidFill>
                <a:schemeClr val="tx1"/>
              </a:solidFill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3D2529-4B5E-4BB1-874F-74A18E4A14AB}"/>
              </a:ext>
            </a:extLst>
          </p:cNvPr>
          <p:cNvGrpSpPr/>
          <p:nvPr/>
        </p:nvGrpSpPr>
        <p:grpSpPr>
          <a:xfrm>
            <a:off x="1250367" y="3714899"/>
            <a:ext cx="2637565" cy="338554"/>
            <a:chOff x="1450226" y="3100952"/>
            <a:chExt cx="2637565" cy="33855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935E2EC-3527-4479-8558-2C304504BDA4}"/>
                </a:ext>
              </a:extLst>
            </p:cNvPr>
            <p:cNvSpPr txBox="1"/>
            <p:nvPr/>
          </p:nvSpPr>
          <p:spPr>
            <a:xfrm>
              <a:off x="1952270" y="3100952"/>
              <a:ext cx="21355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본 건 기초자산 금융조건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48BE46-5DDC-429C-85F2-0478C7231F9E}"/>
                </a:ext>
              </a:extLst>
            </p:cNvPr>
            <p:cNvSpPr txBox="1"/>
            <p:nvPr/>
          </p:nvSpPr>
          <p:spPr>
            <a:xfrm>
              <a:off x="1450226" y="3100952"/>
              <a:ext cx="4700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2.2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65EA7F1-5BE2-4AA4-BF5D-760454B31681}"/>
              </a:ext>
            </a:extLst>
          </p:cNvPr>
          <p:cNvGrpSpPr/>
          <p:nvPr/>
        </p:nvGrpSpPr>
        <p:grpSpPr>
          <a:xfrm>
            <a:off x="1271800" y="3420705"/>
            <a:ext cx="1638894" cy="338554"/>
            <a:chOff x="1450226" y="3100952"/>
            <a:chExt cx="1638894" cy="338554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04DC45F-2CB3-4D8D-8487-FE129CFA61E7}"/>
                </a:ext>
              </a:extLst>
            </p:cNvPr>
            <p:cNvSpPr txBox="1"/>
            <p:nvPr/>
          </p:nvSpPr>
          <p:spPr>
            <a:xfrm>
              <a:off x="1952270" y="3100952"/>
              <a:ext cx="1136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투자 구조도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1C0D8AF-B505-4A37-8FB4-4EBE203332E7}"/>
                </a:ext>
              </a:extLst>
            </p:cNvPr>
            <p:cNvSpPr txBox="1"/>
            <p:nvPr/>
          </p:nvSpPr>
          <p:spPr>
            <a:xfrm>
              <a:off x="1450226" y="3100952"/>
              <a:ext cx="4349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2.1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48E2BFD-FD71-4F48-BF21-AB8A94311C31}"/>
              </a:ext>
            </a:extLst>
          </p:cNvPr>
          <p:cNvSpPr txBox="1"/>
          <p:nvPr/>
        </p:nvSpPr>
        <p:spPr>
          <a:xfrm>
            <a:off x="1161667" y="2804548"/>
            <a:ext cx="361439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02 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금융개요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B4C0DED-FC0A-4276-BB06-0290D081D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24" t="35068" r="5643" b="19413"/>
          <a:stretch/>
        </p:blipFill>
        <p:spPr>
          <a:xfrm>
            <a:off x="-1" y="4136207"/>
            <a:ext cx="9906001" cy="246396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F10BF00-5AEE-4A58-B5EF-DF56AEEA7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3" y="257826"/>
            <a:ext cx="2665584" cy="213076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74530055-36A6-42BF-A7EE-327406798C17}"/>
              </a:ext>
            </a:extLst>
          </p:cNvPr>
          <p:cNvSpPr/>
          <p:nvPr/>
        </p:nvSpPr>
        <p:spPr>
          <a:xfrm>
            <a:off x="6256041" y="2960411"/>
            <a:ext cx="3132000" cy="313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1FBEACD-23F4-4B4B-ACD2-3842D0037E57}"/>
              </a:ext>
            </a:extLst>
          </p:cNvPr>
          <p:cNvSpPr/>
          <p:nvPr/>
        </p:nvSpPr>
        <p:spPr>
          <a:xfrm>
            <a:off x="6479253" y="3164844"/>
            <a:ext cx="2680631" cy="2723133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0CE2F4D-781B-4555-AC10-1087A86260EE}"/>
              </a:ext>
            </a:extLst>
          </p:cNvPr>
          <p:cNvSpPr/>
          <p:nvPr/>
        </p:nvSpPr>
        <p:spPr>
          <a:xfrm>
            <a:off x="5877822" y="264438"/>
            <a:ext cx="3492000" cy="34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5870C148-AE9E-46FC-89CB-D79F3AEDC0E6}"/>
              </a:ext>
            </a:extLst>
          </p:cNvPr>
          <p:cNvSpPr/>
          <p:nvPr/>
        </p:nvSpPr>
        <p:spPr>
          <a:xfrm>
            <a:off x="6146441" y="495050"/>
            <a:ext cx="2959819" cy="3045868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D5F13AF-3C30-47CF-BDEC-1865B89B430C}"/>
              </a:ext>
            </a:extLst>
          </p:cNvPr>
          <p:cNvSpPr/>
          <p:nvPr/>
        </p:nvSpPr>
        <p:spPr>
          <a:xfrm>
            <a:off x="4893066" y="2222958"/>
            <a:ext cx="2448000" cy="2448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DEDA21D-7F71-4545-8731-8D306B9098F5}"/>
              </a:ext>
            </a:extLst>
          </p:cNvPr>
          <p:cNvSpPr/>
          <p:nvPr/>
        </p:nvSpPr>
        <p:spPr>
          <a:xfrm>
            <a:off x="5091944" y="2395729"/>
            <a:ext cx="2072556" cy="2085592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555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02 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금융 개요</a:t>
            </a: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393700" y="1394645"/>
            <a:ext cx="9118600" cy="0"/>
          </a:xfrm>
          <a:prstGeom prst="straightConnector1">
            <a:avLst/>
          </a:prstGeom>
          <a:ln w="19050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cxnSpLocks/>
          </p:cNvCxnSpPr>
          <p:nvPr/>
        </p:nvCxnSpPr>
        <p:spPr>
          <a:xfrm>
            <a:off x="393700" y="6536673"/>
            <a:ext cx="9118600" cy="0"/>
          </a:xfrm>
          <a:prstGeom prst="straightConnector1">
            <a:avLst/>
          </a:prstGeom>
          <a:ln w="19050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852AAFEC-62EB-7AED-5B95-9A369381F4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700" y="588702"/>
            <a:ext cx="3228975" cy="265509"/>
          </a:xfrm>
        </p:spPr>
        <p:txBody>
          <a:bodyPr/>
          <a:lstStyle/>
          <a:p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2.1 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투자구조도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CA291E-ECCD-42FF-B1F2-AEA0E4B51209}"/>
              </a:ext>
            </a:extLst>
          </p:cNvPr>
          <p:cNvSpPr txBox="1"/>
          <p:nvPr/>
        </p:nvSpPr>
        <p:spPr>
          <a:xfrm>
            <a:off x="4611497" y="2701753"/>
            <a:ext cx="902307" cy="4284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담보신탁계약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graphicFrame>
        <p:nvGraphicFramePr>
          <p:cNvPr id="40" name="표 4">
            <a:extLst>
              <a:ext uri="{FF2B5EF4-FFF2-40B4-BE49-F238E27FC236}">
                <a16:creationId xmlns:a16="http://schemas.microsoft.com/office/drawing/2014/main" id="{4BEF7368-40B1-4F6B-A323-C451D0E12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886468"/>
              </p:ext>
            </p:extLst>
          </p:nvPr>
        </p:nvGraphicFramePr>
        <p:xfrm>
          <a:off x="3770662" y="1794496"/>
          <a:ext cx="1743237" cy="64138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74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786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신탁사</a:t>
                      </a: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3932" marR="153932" marT="76966" marB="76966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519"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defRPr/>
                      </a:pPr>
                      <a:r>
                        <a:rPr lang="ko-KR" altLang="en-US" sz="1000" b="1" kern="1200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교보자산신탁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153932" marR="153932" marT="76966" marB="76966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7" name="표 4">
            <a:extLst>
              <a:ext uri="{FF2B5EF4-FFF2-40B4-BE49-F238E27FC236}">
                <a16:creationId xmlns:a16="http://schemas.microsoft.com/office/drawing/2014/main" id="{C3B540FE-3EBB-4FE2-8D24-3C54515C1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681670"/>
              </p:ext>
            </p:extLst>
          </p:nvPr>
        </p:nvGraphicFramePr>
        <p:xfrm>
          <a:off x="3772165" y="3437283"/>
          <a:ext cx="1749229" cy="72931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749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차주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84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타임워크웨스트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CR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리츠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" name="표 4">
            <a:extLst>
              <a:ext uri="{FF2B5EF4-FFF2-40B4-BE49-F238E27FC236}">
                <a16:creationId xmlns:a16="http://schemas.microsoft.com/office/drawing/2014/main" id="{95059DD5-242C-4FF7-87A7-F1293E5FA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895774"/>
              </p:ext>
            </p:extLst>
          </p:nvPr>
        </p:nvGraphicFramePr>
        <p:xfrm>
          <a:off x="3672393" y="5133606"/>
          <a:ext cx="905239" cy="773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905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13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시공사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0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에스앤아이코퍼레이션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E5DD6D04-A636-49D7-8349-7C9DB163EB65}"/>
              </a:ext>
            </a:extLst>
          </p:cNvPr>
          <p:cNvSpPr txBox="1"/>
          <p:nvPr/>
        </p:nvSpPr>
        <p:spPr>
          <a:xfrm>
            <a:off x="5585422" y="3278204"/>
            <a:ext cx="1159020" cy="34851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en-US" altLang="ko-KR" sz="1000" b="1" dirty="0">
                <a:latin typeface="피플폰트 Bold"/>
                <a:ea typeface="피플폰트 Bold"/>
              </a:rPr>
              <a:t>PF </a:t>
            </a:r>
            <a:r>
              <a:rPr lang="ko-KR" altLang="en-US" sz="1000" b="1" dirty="0">
                <a:latin typeface="피플폰트 Bold"/>
                <a:ea typeface="피플폰트 Bold"/>
              </a:rPr>
              <a:t>대출</a:t>
            </a:r>
            <a:endParaRPr lang="en-US" altLang="ko-KR" sz="1000" b="1" dirty="0">
              <a:latin typeface="피플폰트 Bold"/>
              <a:ea typeface="피플폰트 Bold"/>
            </a:endParaRPr>
          </a:p>
          <a:p>
            <a:pPr algn="ctr">
              <a:defRPr/>
            </a:pPr>
            <a:r>
              <a:rPr lang="en-US" altLang="ko-KR" sz="1000" b="1" dirty="0">
                <a:latin typeface="피플폰트 Bold"/>
                <a:ea typeface="피플폰트 Bold"/>
              </a:rPr>
              <a:t>4,900</a:t>
            </a:r>
            <a:r>
              <a:rPr lang="ko-KR" altLang="en-US" sz="1000" b="1" dirty="0">
                <a:latin typeface="피플폰트 Bold"/>
                <a:ea typeface="피플폰트 Bold"/>
              </a:rPr>
              <a:t>억원 실행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graphicFrame>
        <p:nvGraphicFramePr>
          <p:cNvPr id="57" name="표 4">
            <a:extLst>
              <a:ext uri="{FF2B5EF4-FFF2-40B4-BE49-F238E27FC236}">
                <a16:creationId xmlns:a16="http://schemas.microsoft.com/office/drawing/2014/main" id="{43017204-9936-4003-A6FA-9BB545F49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463543"/>
              </p:ext>
            </p:extLst>
          </p:nvPr>
        </p:nvGraphicFramePr>
        <p:xfrm>
          <a:off x="6792329" y="1958694"/>
          <a:ext cx="1595742" cy="178709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95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9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PF Loan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9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(4,900</a:t>
                      </a:r>
                      <a:r>
                        <a:rPr lang="ko-KR" altLang="en-US" sz="9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9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)</a:t>
                      </a:r>
                      <a:endParaRPr lang="ko-KR" altLang="en-US" sz="9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4A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23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 A  3,560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23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 B  1,200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34428"/>
                  </a:ext>
                </a:extLst>
              </a:tr>
              <a:tr h="45223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 C  140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003156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35D04694-49B3-4232-8AE4-86078B35CCB9}"/>
              </a:ext>
            </a:extLst>
          </p:cNvPr>
          <p:cNvSpPr txBox="1"/>
          <p:nvPr/>
        </p:nvSpPr>
        <p:spPr>
          <a:xfrm>
            <a:off x="2666600" y="3860914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사업 시행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graphicFrame>
        <p:nvGraphicFramePr>
          <p:cNvPr id="60" name="표 4">
            <a:extLst>
              <a:ext uri="{FF2B5EF4-FFF2-40B4-BE49-F238E27FC236}">
                <a16:creationId xmlns:a16="http://schemas.microsoft.com/office/drawing/2014/main" id="{9A135461-36BE-4966-8228-2F8F13D51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263722"/>
              </p:ext>
            </p:extLst>
          </p:nvPr>
        </p:nvGraphicFramePr>
        <p:xfrm>
          <a:off x="4745710" y="5133606"/>
          <a:ext cx="905239" cy="773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905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13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자산관리자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0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이지스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자산운용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D0751812-239E-4535-83FF-0E48C401B0CC}"/>
              </a:ext>
            </a:extLst>
          </p:cNvPr>
          <p:cNvSpPr txBox="1"/>
          <p:nvPr/>
        </p:nvSpPr>
        <p:spPr>
          <a:xfrm>
            <a:off x="4009041" y="4587979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공사 도급</a:t>
            </a:r>
            <a:endParaRPr lang="en-US" altLang="ko-KR" sz="1000" b="1" dirty="0">
              <a:latin typeface="피플폰트 Bold"/>
              <a:ea typeface="피플폰트 Bold"/>
            </a:endParaRPr>
          </a:p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계약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F4AA2DDE-B1A0-4061-9484-FF8E2D4D7B65}"/>
              </a:ext>
            </a:extLst>
          </p:cNvPr>
          <p:cNvCxnSpPr>
            <a:cxnSpLocks/>
          </p:cNvCxnSpPr>
          <p:nvPr/>
        </p:nvCxnSpPr>
        <p:spPr>
          <a:xfrm flipV="1">
            <a:off x="5198329" y="4238070"/>
            <a:ext cx="0" cy="8904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DD0B063-887B-427B-9DA6-85514B28E2F5}"/>
              </a:ext>
            </a:extLst>
          </p:cNvPr>
          <p:cNvSpPr txBox="1"/>
          <p:nvPr/>
        </p:nvSpPr>
        <p:spPr>
          <a:xfrm>
            <a:off x="4994589" y="4553587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자산관리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187C739C-91D9-4DE7-BE7E-DB00A2A3020E}"/>
              </a:ext>
            </a:extLst>
          </p:cNvPr>
          <p:cNvCxnSpPr>
            <a:cxnSpLocks/>
          </p:cNvCxnSpPr>
          <p:nvPr/>
        </p:nvCxnSpPr>
        <p:spPr>
          <a:xfrm>
            <a:off x="4645365" y="2481660"/>
            <a:ext cx="0" cy="86400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텍스트 개체 틀 2">
            <a:extLst>
              <a:ext uri="{FF2B5EF4-FFF2-40B4-BE49-F238E27FC236}">
                <a16:creationId xmlns:a16="http://schemas.microsoft.com/office/drawing/2014/main" id="{0AF951AB-B9B8-4B22-B977-185F53221D00}"/>
              </a:ext>
            </a:extLst>
          </p:cNvPr>
          <p:cNvSpPr txBox="1">
            <a:spLocks/>
          </p:cNvSpPr>
          <p:nvPr/>
        </p:nvSpPr>
        <p:spPr>
          <a:xfrm>
            <a:off x="393698" y="823870"/>
            <a:ext cx="6960563" cy="489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본건은 </a:t>
            </a:r>
            <a:r>
              <a:rPr lang="ko-KR" altLang="en-US" sz="1000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타임워크웨스트기업구조조정부동산투자회사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1000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타임워크웨스트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CR</a:t>
            </a: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리츠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를 차주로 하는 담보대출 총 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4,900</a:t>
            </a: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억원 中 </a:t>
            </a:r>
            <a:r>
              <a:rPr lang="en-US" altLang="ko-KR" sz="1000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Tr.C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140</a:t>
            </a: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억원을 기초자산으로 사모사채를 발행하는 건입니다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. </a:t>
            </a:r>
          </a:p>
        </p:txBody>
      </p:sp>
      <p:graphicFrame>
        <p:nvGraphicFramePr>
          <p:cNvPr id="34" name="표 4">
            <a:extLst>
              <a:ext uri="{FF2B5EF4-FFF2-40B4-BE49-F238E27FC236}">
                <a16:creationId xmlns:a16="http://schemas.microsoft.com/office/drawing/2014/main" id="{297F54BD-508F-4C6C-BA42-722034D55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060777"/>
              </p:ext>
            </p:extLst>
          </p:nvPr>
        </p:nvGraphicFramePr>
        <p:xfrm>
          <a:off x="6792329" y="3947080"/>
          <a:ext cx="1595742" cy="218974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95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98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900" dirty="0" err="1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이지스</a:t>
                      </a:r>
                      <a:r>
                        <a:rPr lang="ko-KR" altLang="en-US" sz="9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 </a:t>
                      </a:r>
                      <a:r>
                        <a:rPr lang="en-US" altLang="ko-KR" sz="9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468-2</a:t>
                      </a:r>
                      <a:r>
                        <a:rPr lang="ko-KR" altLang="en-US" sz="9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 </a:t>
                      </a:r>
                      <a:r>
                        <a:rPr lang="en-US" altLang="ko-KR" sz="9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Equity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9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(825</a:t>
                      </a:r>
                      <a:r>
                        <a:rPr lang="ko-KR" altLang="en-US" sz="9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90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)</a:t>
                      </a:r>
                      <a:endParaRPr lang="ko-KR" altLang="en-US" sz="9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4A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KT Estate (250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)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45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삼성증권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(200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)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34428"/>
                  </a:ext>
                </a:extLst>
              </a:tr>
              <a:tr h="22596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이지스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PI (60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)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003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우미건설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(134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)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625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금성백조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(81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)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857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기타 주주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(100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억원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)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415360"/>
                  </a:ext>
                </a:extLst>
              </a:tr>
            </a:tbl>
          </a:graphicData>
        </a:graphic>
      </p:graphicFrame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64672BC4-8186-464E-B3E0-0F6FD100EBCF}"/>
              </a:ext>
            </a:extLst>
          </p:cNvPr>
          <p:cNvCxnSpPr>
            <a:cxnSpLocks/>
          </p:cNvCxnSpPr>
          <p:nvPr/>
        </p:nvCxnSpPr>
        <p:spPr>
          <a:xfrm flipH="1">
            <a:off x="5650949" y="3985478"/>
            <a:ext cx="9521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7BAE263-8619-41F9-BAC7-BE36BCB84D86}"/>
              </a:ext>
            </a:extLst>
          </p:cNvPr>
          <p:cNvCxnSpPr>
            <a:cxnSpLocks/>
          </p:cNvCxnSpPr>
          <p:nvPr/>
        </p:nvCxnSpPr>
        <p:spPr>
          <a:xfrm flipH="1">
            <a:off x="5650949" y="3663904"/>
            <a:ext cx="9521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4E39587-7051-4158-99A8-C9A08B8A5C3E}"/>
              </a:ext>
            </a:extLst>
          </p:cNvPr>
          <p:cNvCxnSpPr>
            <a:cxnSpLocks/>
          </p:cNvCxnSpPr>
          <p:nvPr/>
        </p:nvCxnSpPr>
        <p:spPr>
          <a:xfrm>
            <a:off x="5650949" y="2115187"/>
            <a:ext cx="9521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9960E66-C454-4180-B7EA-D6CA3437B1D4}"/>
              </a:ext>
            </a:extLst>
          </p:cNvPr>
          <p:cNvSpPr txBox="1"/>
          <p:nvPr/>
        </p:nvSpPr>
        <p:spPr>
          <a:xfrm>
            <a:off x="5504405" y="1851085"/>
            <a:ext cx="1159020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 err="1">
                <a:latin typeface="피플폰트 Bold"/>
                <a:ea typeface="피플폰트 Bold"/>
              </a:rPr>
              <a:t>우선순익권</a:t>
            </a:r>
            <a:r>
              <a:rPr lang="ko-KR" altLang="en-US" sz="1000" b="1" dirty="0">
                <a:latin typeface="피플폰트 Bold"/>
                <a:ea typeface="피플폰트 Bold"/>
              </a:rPr>
              <a:t> 제공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44E523-6C44-4344-B807-1E0779C3D4EA}"/>
              </a:ext>
            </a:extLst>
          </p:cNvPr>
          <p:cNvSpPr txBox="1"/>
          <p:nvPr/>
        </p:nvSpPr>
        <p:spPr>
          <a:xfrm>
            <a:off x="5585422" y="3985478"/>
            <a:ext cx="1159020" cy="34851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en-US" altLang="ko-KR" sz="1000" b="1" dirty="0">
                <a:latin typeface="피플폰트 Bold"/>
                <a:ea typeface="피플폰트 Bold"/>
              </a:rPr>
              <a:t>Equity</a:t>
            </a:r>
          </a:p>
          <a:p>
            <a:pPr algn="ctr">
              <a:defRPr/>
            </a:pPr>
            <a:r>
              <a:rPr lang="en-US" altLang="ko-KR" sz="1000" b="1" dirty="0">
                <a:latin typeface="피플폰트 Bold"/>
                <a:ea typeface="피플폰트 Bold"/>
              </a:rPr>
              <a:t>825</a:t>
            </a:r>
            <a:r>
              <a:rPr lang="ko-KR" altLang="en-US" sz="1000" b="1" dirty="0">
                <a:latin typeface="피플폰트 Bold"/>
                <a:ea typeface="피플폰트 Bold"/>
              </a:rPr>
              <a:t>억원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0779D63-1A16-4CFE-BC72-6B32D12469A6}"/>
              </a:ext>
            </a:extLst>
          </p:cNvPr>
          <p:cNvCxnSpPr>
            <a:cxnSpLocks/>
          </p:cNvCxnSpPr>
          <p:nvPr/>
        </p:nvCxnSpPr>
        <p:spPr>
          <a:xfrm flipV="1">
            <a:off x="4012582" y="4231245"/>
            <a:ext cx="0" cy="8904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374D299C-E34B-45E3-A799-A7FE7EB04CB0}"/>
              </a:ext>
            </a:extLst>
          </p:cNvPr>
          <p:cNvCxnSpPr>
            <a:cxnSpLocks/>
          </p:cNvCxnSpPr>
          <p:nvPr/>
        </p:nvCxnSpPr>
        <p:spPr>
          <a:xfrm>
            <a:off x="4206760" y="4238070"/>
            <a:ext cx="0" cy="8904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E4A16F4-A618-4F7F-A8FA-37994A3A689F}"/>
              </a:ext>
            </a:extLst>
          </p:cNvPr>
          <p:cNvSpPr txBox="1"/>
          <p:nvPr/>
        </p:nvSpPr>
        <p:spPr>
          <a:xfrm>
            <a:off x="2974377" y="4586420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책임준공</a:t>
            </a:r>
            <a:endParaRPr lang="en-US" altLang="ko-KR" sz="1000" b="1" dirty="0">
              <a:latin typeface="피플폰트 Bold"/>
              <a:ea typeface="피플폰트 Bold"/>
            </a:endParaRPr>
          </a:p>
          <a:p>
            <a:pPr algn="ctr">
              <a:defRPr/>
            </a:pPr>
            <a:r>
              <a:rPr lang="ko-KR" altLang="en-US" sz="1000" b="1" dirty="0">
                <a:latin typeface="피플폰트 Bold"/>
                <a:ea typeface="피플폰트 Bold"/>
              </a:rPr>
              <a:t>확약</a:t>
            </a:r>
            <a:endParaRPr lang="en-US" altLang="ko-KR" sz="1000" b="1" dirty="0">
              <a:latin typeface="피플폰트 Bold"/>
              <a:ea typeface="피플폰트 Bold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C1ABE17C-8471-4DA6-8BBE-DA5008C82E57}"/>
              </a:ext>
            </a:extLst>
          </p:cNvPr>
          <p:cNvCxnSpPr>
            <a:cxnSpLocks/>
          </p:cNvCxnSpPr>
          <p:nvPr/>
        </p:nvCxnSpPr>
        <p:spPr>
          <a:xfrm flipH="1">
            <a:off x="2720273" y="3867115"/>
            <a:ext cx="9521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그림 68">
            <a:extLst>
              <a:ext uri="{FF2B5EF4-FFF2-40B4-BE49-F238E27FC236}">
                <a16:creationId xmlns:a16="http://schemas.microsoft.com/office/drawing/2014/main" id="{ACA358F1-E1C3-4DDD-B175-D5963A07F5A9}"/>
              </a:ext>
            </a:extLst>
          </p:cNvPr>
          <p:cNvPicPr/>
          <p:nvPr/>
        </p:nvPicPr>
        <p:blipFill rotWithShape="1">
          <a:blip r:embed="rId2"/>
          <a:srcRect l="5959" t="29403" r="74716" b="31218"/>
          <a:stretch/>
        </p:blipFill>
        <p:spPr>
          <a:xfrm>
            <a:off x="1485585" y="3171416"/>
            <a:ext cx="1113175" cy="12610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5" name="슬라이드 번호 개체 틀 1">
            <a:extLst>
              <a:ext uri="{FF2B5EF4-FFF2-40B4-BE49-F238E27FC236}">
                <a16:creationId xmlns:a16="http://schemas.microsoft.com/office/drawing/2014/main" id="{4171114E-FCAD-4108-B62B-7CA18401285E}"/>
              </a:ext>
            </a:extLst>
          </p:cNvPr>
          <p:cNvSpPr txBox="1">
            <a:spLocks/>
          </p:cNvSpPr>
          <p:nvPr/>
        </p:nvSpPr>
        <p:spPr>
          <a:xfrm>
            <a:off x="6669088" y="6605754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3A57096-21A8-44ED-AF94-8A259496D2BE}" type="slidenum">
              <a:rPr lang="en-US" altLang="en-US" b="1" smtClean="0">
                <a:solidFill>
                  <a:schemeClr val="tx1"/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pPr>
                <a:defRPr/>
              </a:pPr>
              <a:t>8</a:t>
            </a:fld>
            <a:endParaRPr lang="en-US" altLang="en-US" b="1" dirty="0">
              <a:solidFill>
                <a:schemeClr val="tx1"/>
              </a:solidFill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  <p:sp>
        <p:nvSpPr>
          <p:cNvPr id="32" name="슬라이드 번호 개체 틀 1">
            <a:extLst>
              <a:ext uri="{FF2B5EF4-FFF2-40B4-BE49-F238E27FC236}">
                <a16:creationId xmlns:a16="http://schemas.microsoft.com/office/drawing/2014/main" id="{E87E01E7-8E53-4E02-940A-223DE2365393}"/>
              </a:ext>
            </a:extLst>
          </p:cNvPr>
          <p:cNvSpPr txBox="1">
            <a:spLocks/>
          </p:cNvSpPr>
          <p:nvPr/>
        </p:nvSpPr>
        <p:spPr>
          <a:xfrm>
            <a:off x="0" y="6605755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ko-KR" altLang="en-US" b="1" dirty="0">
                <a:solidFill>
                  <a:schemeClr val="tx1"/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사업명</a:t>
            </a:r>
            <a:endParaRPr lang="en-US" altLang="en-US" b="1" dirty="0">
              <a:solidFill>
                <a:schemeClr val="tx1"/>
              </a:solidFill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02 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금융 개요</a:t>
            </a: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10D206EE-4599-9CC4-A08C-CA49006EA5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2.2 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 건 기초자산 금융조건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46E1BB-15AA-4F39-961E-EC4E498CF875}"/>
              </a:ext>
            </a:extLst>
          </p:cNvPr>
          <p:cNvSpPr txBox="1"/>
          <p:nvPr/>
        </p:nvSpPr>
        <p:spPr>
          <a:xfrm>
            <a:off x="393698" y="1312989"/>
            <a:ext cx="1687513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vl="0"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담보 대출 주요 조건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(1/2)</a:t>
            </a:r>
            <a:endParaRPr lang="ko-KR" altLang="en-US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E2A2AC6F-E152-4C5D-9AAC-4E8A0AA8A9CE}"/>
              </a:ext>
            </a:extLst>
          </p:cNvPr>
          <p:cNvSpPr txBox="1">
            <a:spLocks/>
          </p:cNvSpPr>
          <p:nvPr/>
        </p:nvSpPr>
        <p:spPr>
          <a:xfrm>
            <a:off x="393698" y="823870"/>
            <a:ext cx="9118602" cy="489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차주를 </a:t>
            </a:r>
            <a:r>
              <a:rPr lang="ko-KR" altLang="en-US" sz="1000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타임워크웨스트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CR</a:t>
            </a: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리츠로 하는 담보대출 총 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4,900</a:t>
            </a: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억원으로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, </a:t>
            </a:r>
            <a:r>
              <a:rPr lang="en-US" altLang="ko-KR" sz="1000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Tr,A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3,560</a:t>
            </a: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억원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, </a:t>
            </a:r>
            <a:r>
              <a:rPr lang="en-US" altLang="ko-KR" sz="1000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Tr.B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1,200</a:t>
            </a: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억원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, </a:t>
            </a:r>
            <a:r>
              <a:rPr lang="en-US" altLang="ko-KR" sz="1000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Tr.C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140</a:t>
            </a: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억원으로 구성되어 있으며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,</a:t>
            </a:r>
          </a:p>
          <a:p>
            <a:pPr marL="0" lv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기초자산은 </a:t>
            </a:r>
            <a:r>
              <a:rPr lang="en-US" altLang="ko-KR" sz="1000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Tr,C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140</a:t>
            </a: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억원 中 억원입니다</a:t>
            </a:r>
            <a:r>
              <a:rPr lang="en-US" altLang="ko-KR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.</a:t>
            </a:r>
            <a:endParaRPr lang="ko-KR" altLang="en-US" sz="10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703ACD2-BFAB-4936-A764-D07E01267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171514"/>
              </p:ext>
            </p:extLst>
          </p:nvPr>
        </p:nvGraphicFramePr>
        <p:xfrm>
          <a:off x="393698" y="1574598"/>
          <a:ext cx="9118602" cy="4947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7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377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내용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003198"/>
                  </a:ext>
                </a:extLst>
              </a:tr>
              <a:tr h="282817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사업명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신도림역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(GTX-B) </a:t>
                      </a:r>
                      <a:r>
                        <a:rPr lang="ko-KR" altLang="en-US" sz="105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디큐브시티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복합시설 </a:t>
                      </a:r>
                      <a:r>
                        <a:rPr lang="ko-KR" altLang="en-US" sz="105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리모델링대출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088550"/>
                  </a:ext>
                </a:extLst>
              </a:tr>
              <a:tr h="282817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차주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105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타임워크웨스트기업구조조정부동산투자회사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(AMC : </a:t>
                      </a:r>
                      <a:r>
                        <a:rPr lang="ko-KR" altLang="en-US" sz="105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이지스자산운용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)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817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시공사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㈜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KCC 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건설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281984"/>
                  </a:ext>
                </a:extLst>
              </a:tr>
              <a:tr h="282817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자산보관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신한은행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(FMC), </a:t>
                      </a:r>
                      <a:r>
                        <a:rPr lang="ko-KR" altLang="en-US" sz="105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교보자산신탁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담보신탁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)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781318"/>
                  </a:ext>
                </a:extLst>
              </a:tr>
              <a:tr h="282817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금융주관사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신한투자증권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삼성증권 공동주관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585928"/>
                  </a:ext>
                </a:extLst>
              </a:tr>
              <a:tr h="282817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대출기간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최초 인출일로부터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[20]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개월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최초 인출 예정일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: 2026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년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05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월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19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일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화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))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232092"/>
                  </a:ext>
                </a:extLst>
              </a:tr>
              <a:tr h="282817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자금용도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기존 대출 상환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리모델링 용역비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금융비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, 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제세공과금 등 대리금융기관이 인정하는 사업비용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793540"/>
                  </a:ext>
                </a:extLst>
              </a:tr>
              <a:tr h="27895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주요 금융조건</a:t>
                      </a:r>
                      <a:endParaRPr lang="en-US" altLang="ko-KR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  <a:p>
                      <a:pPr marL="0" lvl="0" indent="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  <a:p>
                      <a:pPr marL="0" lvl="0" indent="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  <a:p>
                      <a:pPr marL="0" lvl="0" indent="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  <a:p>
                      <a:pPr marL="0" lvl="0" indent="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  <a:p>
                      <a:pPr marL="0" lvl="0" indent="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  <a:p>
                      <a:pPr marL="0" lvl="0" indent="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- LTV 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리모델링 후 담보가치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7,004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억원 기준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(2025.12.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㈜대화감정평가법인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- LTC 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전체 사업비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[5,725]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억원 기준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([16.23]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백만원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평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*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본 금융구조 및 조건은 사업진행 및 금융시장 상황에 따라 변동 가능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665014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1836870E-2CF1-4DE2-BDA1-3CCB080B5D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031937"/>
              </p:ext>
            </p:extLst>
          </p:nvPr>
        </p:nvGraphicFramePr>
        <p:xfrm>
          <a:off x="1619251" y="3822865"/>
          <a:ext cx="7142512" cy="2091342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1517784">
                  <a:extLst>
                    <a:ext uri="{9D8B030D-6E8A-4147-A177-3AD203B41FA5}">
                      <a16:colId xmlns:a16="http://schemas.microsoft.com/office/drawing/2014/main" val="3101414149"/>
                    </a:ext>
                  </a:extLst>
                </a:gridCol>
                <a:gridCol w="1383862">
                  <a:extLst>
                    <a:ext uri="{9D8B030D-6E8A-4147-A177-3AD203B41FA5}">
                      <a16:colId xmlns:a16="http://schemas.microsoft.com/office/drawing/2014/main" val="3051806514"/>
                    </a:ext>
                  </a:extLst>
                </a:gridCol>
                <a:gridCol w="1562424">
                  <a:extLst>
                    <a:ext uri="{9D8B030D-6E8A-4147-A177-3AD203B41FA5}">
                      <a16:colId xmlns:a16="http://schemas.microsoft.com/office/drawing/2014/main" val="3071167995"/>
                    </a:ext>
                  </a:extLst>
                </a:gridCol>
                <a:gridCol w="1562424">
                  <a:extLst>
                    <a:ext uri="{9D8B030D-6E8A-4147-A177-3AD203B41FA5}">
                      <a16:colId xmlns:a16="http://schemas.microsoft.com/office/drawing/2014/main" val="1412245255"/>
                    </a:ext>
                  </a:extLst>
                </a:gridCol>
                <a:gridCol w="1116018">
                  <a:extLst>
                    <a:ext uri="{9D8B030D-6E8A-4147-A177-3AD203B41FA5}">
                      <a16:colId xmlns:a16="http://schemas.microsoft.com/office/drawing/2014/main" val="2503111442"/>
                    </a:ext>
                  </a:extLst>
                </a:gridCol>
              </a:tblGrid>
              <a:tr h="1901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u="none" strike="noStrike" dirty="0">
                          <a:effectLst/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구분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 err="1">
                          <a:effectLst/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Tr.A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 err="1">
                          <a:effectLst/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Tr.B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 err="1">
                          <a:effectLst/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Tr.C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u="none" strike="noStrike" dirty="0">
                          <a:effectLst/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합계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086478"/>
                  </a:ext>
                </a:extLst>
              </a:tr>
              <a:tr h="1901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u="none" strike="noStrike" dirty="0">
                          <a:effectLst/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대출금액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3,560억원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1,200억원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140억원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4,900억원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168563"/>
                  </a:ext>
                </a:extLst>
              </a:tr>
              <a:tr h="1901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u="none" strike="noStrike" dirty="0">
                          <a:effectLst/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인출방식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한도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일시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일시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　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707231"/>
                  </a:ext>
                </a:extLst>
              </a:tr>
              <a:tr h="1901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u="none" strike="noStrike" dirty="0">
                          <a:effectLst/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금리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[5.50]%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[7.50]%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[9.00]%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　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8404936"/>
                  </a:ext>
                </a:extLst>
              </a:tr>
              <a:tr h="1901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u="none" strike="noStrike" dirty="0">
                          <a:effectLst/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선취수수료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[TBD]%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[</a:t>
                      </a:r>
                      <a:r>
                        <a:rPr lang="en-US" altLang="ko-KR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TBD</a:t>
                      </a: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]%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[</a:t>
                      </a:r>
                      <a:r>
                        <a:rPr lang="en-US" altLang="ko-KR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TBD</a:t>
                      </a: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%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771258"/>
                  </a:ext>
                </a:extLst>
              </a:tr>
              <a:tr h="1901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All-in-cost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[</a:t>
                      </a:r>
                      <a:r>
                        <a:rPr lang="en-US" altLang="ko-KR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TBD</a:t>
                      </a: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]%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[</a:t>
                      </a:r>
                      <a:r>
                        <a:rPr lang="en-US" altLang="ko-KR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TBD</a:t>
                      </a: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]%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[</a:t>
                      </a:r>
                      <a:r>
                        <a:rPr lang="en-US" altLang="ko-KR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TBD</a:t>
                      </a: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]%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　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650740"/>
                  </a:ext>
                </a:extLst>
              </a:tr>
              <a:tr h="1901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u="none" strike="noStrike" dirty="0">
                          <a:effectLst/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대출기간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20개월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5198479"/>
                  </a:ext>
                </a:extLst>
              </a:tr>
              <a:tr h="1901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u="none" strike="noStrike" dirty="0">
                          <a:effectLst/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담보/상환순위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1순위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2순위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3순위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　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9251833"/>
                  </a:ext>
                </a:extLst>
              </a:tr>
              <a:tr h="1901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LTV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50.83%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67.96%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69.96%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　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550505"/>
                  </a:ext>
                </a:extLst>
              </a:tr>
              <a:tr h="1901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LTC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62.92%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84.13%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86.60%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　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579970"/>
                  </a:ext>
                </a:extLst>
              </a:tr>
              <a:tr h="1901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Exit </a:t>
                      </a:r>
                      <a:r>
                        <a:rPr lang="en-US" sz="1000" b="0" u="none" strike="noStrike" dirty="0" err="1">
                          <a:effectLst/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평당가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[1,009]</a:t>
                      </a:r>
                      <a:r>
                        <a:rPr lang="en-US" sz="1000" b="0" u="none" strike="noStrike" dirty="0" err="1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만원</a:t>
                      </a: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/평 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[1,350]</a:t>
                      </a:r>
                      <a:r>
                        <a:rPr lang="en-US" sz="1000" b="0" u="none" strike="noStrike" dirty="0" err="1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만원</a:t>
                      </a: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/평 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[1,389]</a:t>
                      </a:r>
                      <a:r>
                        <a:rPr lang="en-US" sz="1000" b="0" u="none" strike="noStrike" dirty="0" err="1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만원</a:t>
                      </a: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/평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u="none" strike="noStrike" dirty="0">
                          <a:effectLst/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6348023"/>
                  </a:ext>
                </a:extLst>
              </a:tr>
            </a:tbl>
          </a:graphicData>
        </a:graphic>
      </p:graphicFrame>
      <p:sp>
        <p:nvSpPr>
          <p:cNvPr id="10" name="슬라이드 번호 개체 틀 1">
            <a:extLst>
              <a:ext uri="{FF2B5EF4-FFF2-40B4-BE49-F238E27FC236}">
                <a16:creationId xmlns:a16="http://schemas.microsoft.com/office/drawing/2014/main" id="{435EA212-3251-45D3-8092-C4D6DBE1BACD}"/>
              </a:ext>
            </a:extLst>
          </p:cNvPr>
          <p:cNvSpPr txBox="1">
            <a:spLocks/>
          </p:cNvSpPr>
          <p:nvPr/>
        </p:nvSpPr>
        <p:spPr>
          <a:xfrm>
            <a:off x="6669088" y="6605754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3A57096-21A8-44ED-AF94-8A259496D2BE}" type="slidenum">
              <a:rPr lang="en-US" altLang="en-US" b="1" smtClean="0">
                <a:solidFill>
                  <a:schemeClr val="tx1"/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pPr>
                <a:defRPr/>
              </a:pPr>
              <a:t>9</a:t>
            </a:fld>
            <a:endParaRPr lang="en-US" altLang="en-US" b="1" dirty="0">
              <a:solidFill>
                <a:schemeClr val="tx1"/>
              </a:solidFill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F6FBE0FC-0ACB-46F6-A775-76AFFA1D2BB2}"/>
              </a:ext>
            </a:extLst>
          </p:cNvPr>
          <p:cNvSpPr txBox="1">
            <a:spLocks/>
          </p:cNvSpPr>
          <p:nvPr/>
        </p:nvSpPr>
        <p:spPr>
          <a:xfrm>
            <a:off x="0" y="6605755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ko-KR" altLang="en-US" b="1" dirty="0">
                <a:solidFill>
                  <a:schemeClr val="tx1"/>
                </a:solidFill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사업명</a:t>
            </a:r>
            <a:endParaRPr lang="en-US" altLang="en-US" b="1" dirty="0">
              <a:solidFill>
                <a:schemeClr val="tx1"/>
              </a:solidFill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B4C0DED-FC0A-4276-BB06-0290D081D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24" t="35068" r="5643" b="19413"/>
          <a:stretch/>
        </p:blipFill>
        <p:spPr>
          <a:xfrm>
            <a:off x="-1" y="4136207"/>
            <a:ext cx="9906001" cy="246396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C09D19D-CA50-430E-85B5-00C309F8E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3" y="257826"/>
            <a:ext cx="2665584" cy="213076"/>
          </a:xfrm>
          <a:prstGeom prst="rect">
            <a:avLst/>
          </a:prstGeom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8728A0F9-9485-4B2B-9C49-2ED3C0EAC968}"/>
              </a:ext>
            </a:extLst>
          </p:cNvPr>
          <p:cNvSpPr/>
          <p:nvPr/>
        </p:nvSpPr>
        <p:spPr>
          <a:xfrm>
            <a:off x="6256041" y="2960411"/>
            <a:ext cx="3132000" cy="313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6DAED8D2-CF0B-43DF-9501-2403FD23977C}"/>
              </a:ext>
            </a:extLst>
          </p:cNvPr>
          <p:cNvSpPr/>
          <p:nvPr/>
        </p:nvSpPr>
        <p:spPr>
          <a:xfrm>
            <a:off x="6479253" y="3164844"/>
            <a:ext cx="2680631" cy="2723133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8FBC9A9-5B48-4C3F-9805-529CC43DEC0C}"/>
              </a:ext>
            </a:extLst>
          </p:cNvPr>
          <p:cNvSpPr/>
          <p:nvPr/>
        </p:nvSpPr>
        <p:spPr>
          <a:xfrm>
            <a:off x="5877822" y="264438"/>
            <a:ext cx="3492000" cy="34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85C8F8B0-58B3-422C-ADCD-6FD3E5E593F5}"/>
              </a:ext>
            </a:extLst>
          </p:cNvPr>
          <p:cNvSpPr/>
          <p:nvPr/>
        </p:nvSpPr>
        <p:spPr>
          <a:xfrm>
            <a:off x="6146441" y="495050"/>
            <a:ext cx="2959819" cy="3045868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C997C7B-70B2-4B3B-A9EC-97E07DEBFC1D}"/>
              </a:ext>
            </a:extLst>
          </p:cNvPr>
          <p:cNvSpPr/>
          <p:nvPr/>
        </p:nvSpPr>
        <p:spPr>
          <a:xfrm>
            <a:off x="4893066" y="2222958"/>
            <a:ext cx="2448000" cy="2448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A09F73B-712F-468F-8809-9B97F03B9E17}"/>
              </a:ext>
            </a:extLst>
          </p:cNvPr>
          <p:cNvSpPr/>
          <p:nvPr/>
        </p:nvSpPr>
        <p:spPr>
          <a:xfrm>
            <a:off x="5091944" y="2395729"/>
            <a:ext cx="2072556" cy="2085592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A190FE-0EAC-4337-BAD5-C332EB9AF690}"/>
              </a:ext>
            </a:extLst>
          </p:cNvPr>
          <p:cNvSpPr txBox="1"/>
          <p:nvPr/>
        </p:nvSpPr>
        <p:spPr>
          <a:xfrm>
            <a:off x="1169067" y="2953758"/>
            <a:ext cx="361439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03 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본건 사업개요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FE0CA57-EFBB-4F40-8326-535B0FA79A61}"/>
              </a:ext>
            </a:extLst>
          </p:cNvPr>
          <p:cNvGrpSpPr/>
          <p:nvPr/>
        </p:nvGrpSpPr>
        <p:grpSpPr>
          <a:xfrm>
            <a:off x="1271800" y="3565688"/>
            <a:ext cx="1411267" cy="338554"/>
            <a:chOff x="1450226" y="3100952"/>
            <a:chExt cx="1411267" cy="33855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7F495D4-9972-404F-9D3E-F73E8DA71BE2}"/>
                </a:ext>
              </a:extLst>
            </p:cNvPr>
            <p:cNvSpPr txBox="1"/>
            <p:nvPr/>
          </p:nvSpPr>
          <p:spPr>
            <a:xfrm>
              <a:off x="1952270" y="3100952"/>
              <a:ext cx="9092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사업개요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6A10526-2E09-44A0-852F-E8235DCB4DCB}"/>
                </a:ext>
              </a:extLst>
            </p:cNvPr>
            <p:cNvSpPr txBox="1"/>
            <p:nvPr/>
          </p:nvSpPr>
          <p:spPr>
            <a:xfrm>
              <a:off x="1450226" y="3100952"/>
              <a:ext cx="4398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3.1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2223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0A10393-221D-41B4-B041-375380893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833781"/>
              </p:ext>
            </p:extLst>
          </p:nvPr>
        </p:nvGraphicFramePr>
        <p:xfrm>
          <a:off x="393699" y="1744769"/>
          <a:ext cx="4404724" cy="4701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022">
                  <a:extLst>
                    <a:ext uri="{9D8B030D-6E8A-4147-A177-3AD203B41FA5}">
                      <a16:colId xmlns:a16="http://schemas.microsoft.com/office/drawing/2014/main" val="1660422327"/>
                    </a:ext>
                  </a:extLst>
                </a:gridCol>
                <a:gridCol w="3318702">
                  <a:extLst>
                    <a:ext uri="{9D8B030D-6E8A-4147-A177-3AD203B41FA5}">
                      <a16:colId xmlns:a16="http://schemas.microsoft.com/office/drawing/2014/main" val="4118234867"/>
                    </a:ext>
                  </a:extLst>
                </a:gridCol>
              </a:tblGrid>
              <a:tr h="2492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158635"/>
                  </a:ext>
                </a:extLst>
              </a:tr>
              <a:tr h="2492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사업명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천안 부성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지구 도시개발사업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988693"/>
                  </a:ext>
                </a:extLst>
              </a:tr>
              <a:tr h="2492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대지위치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충청남도 천안시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서북구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부대동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354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번지 일원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827601"/>
                  </a:ext>
                </a:extLst>
              </a:tr>
              <a:tr h="2492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시행자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dirty="0" err="1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더함도시개발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주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)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076282"/>
                  </a:ext>
                </a:extLst>
              </a:tr>
              <a:tr h="2492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시행방법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수용 또는 사용 방식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332328"/>
                  </a:ext>
                </a:extLst>
              </a:tr>
              <a:tr h="2492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시행기간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2024.08.12 ~ 2027.12.31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887524"/>
                  </a:ext>
                </a:extLst>
              </a:tr>
              <a:tr h="2492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토지면적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  <a:cs typeface="+mn-cs"/>
                        </a:rPr>
                        <a:t>143,822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m</a:t>
                      </a:r>
                      <a:r>
                        <a:rPr lang="en-US" altLang="ko-KR" sz="1050" b="0" kern="1200" baseline="300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 (43,506.16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평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)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157239"/>
                  </a:ext>
                </a:extLst>
              </a:tr>
              <a:tr h="2492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사업단계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실시계획인가 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511001"/>
                  </a:ext>
                </a:extLst>
              </a:tr>
              <a:tr h="26897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토지이용계획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및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기반시설계획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05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089421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31B8FDF-B85C-4F57-A03D-1E9F97DEC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916823"/>
              </p:ext>
            </p:extLst>
          </p:nvPr>
        </p:nvGraphicFramePr>
        <p:xfrm>
          <a:off x="5020488" y="1751117"/>
          <a:ext cx="4404724" cy="468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676">
                  <a:extLst>
                    <a:ext uri="{9D8B030D-6E8A-4147-A177-3AD203B41FA5}">
                      <a16:colId xmlns:a16="http://schemas.microsoft.com/office/drawing/2014/main" val="3622772408"/>
                    </a:ext>
                  </a:extLst>
                </a:gridCol>
                <a:gridCol w="3314048">
                  <a:extLst>
                    <a:ext uri="{9D8B030D-6E8A-4147-A177-3AD203B41FA5}">
                      <a16:colId xmlns:a16="http://schemas.microsoft.com/office/drawing/2014/main" val="434218815"/>
                    </a:ext>
                  </a:extLst>
                </a:gridCol>
              </a:tblGrid>
              <a:tr h="2490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구분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028853"/>
                  </a:ext>
                </a:extLst>
              </a:tr>
              <a:tr h="2490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사업명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천안 부성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지구 공동주택 개발사업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950090"/>
                  </a:ext>
                </a:extLst>
              </a:tr>
              <a:tr h="2490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대지위치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충청남도 천안시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서북구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부대동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354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번지 일원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674668"/>
                  </a:ext>
                </a:extLst>
              </a:tr>
              <a:tr h="2490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지역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/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지구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제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종 일반주거지역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도시개발사업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)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849379"/>
                  </a:ext>
                </a:extLst>
              </a:tr>
              <a:tr h="2490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대지면적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71,620.00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m</a:t>
                      </a:r>
                      <a:r>
                        <a:rPr lang="en-US" altLang="ko-KR" sz="1050" b="0" kern="1200" baseline="300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 (21,665.05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평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)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762421"/>
                  </a:ext>
                </a:extLst>
              </a:tr>
              <a:tr h="2490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건축면적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7,584.07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m</a:t>
                      </a:r>
                      <a:r>
                        <a:rPr lang="en-US" altLang="ko-KR" sz="1050" b="0" kern="1200" baseline="300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 (2,294.18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평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)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833981"/>
                  </a:ext>
                </a:extLst>
              </a:tr>
              <a:tr h="2490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연면적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243,049.17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m</a:t>
                      </a:r>
                      <a:r>
                        <a:rPr lang="en-US" altLang="ko-KR" sz="1050" b="0" kern="1200" baseline="300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 (2,294.18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평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)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841294"/>
                  </a:ext>
                </a:extLst>
              </a:tr>
              <a:tr h="2490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건폐율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/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용적률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10.59% 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법정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60%) / 236.29% 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법정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250.0%)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199513"/>
                  </a:ext>
                </a:extLst>
              </a:tr>
              <a:tr h="4075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건축규모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공동주택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1,290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세대 및 근린생활시설</a:t>
                      </a:r>
                      <a:endParaRPr lang="en-US" altLang="ko-KR" sz="105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지하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층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~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지상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37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층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(10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개동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)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520272"/>
                  </a:ext>
                </a:extLst>
              </a:tr>
              <a:tr h="2490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주차대수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2,040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대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법정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1,612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대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세대당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1.5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대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)</a:t>
                      </a:r>
                      <a:endParaRPr lang="ko-KR" altLang="en-US" sz="105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22142"/>
                  </a:ext>
                </a:extLst>
              </a:tr>
              <a:tr h="20088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조감도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05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839774"/>
                  </a:ext>
                </a:extLst>
              </a:tr>
            </a:tbl>
          </a:graphicData>
        </a:graphic>
      </p:graphicFrame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03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 건 사업 개요</a:t>
            </a: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8B801004-CED1-8DB2-6CAF-A9FF6C319C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700" y="588702"/>
            <a:ext cx="3228975" cy="265509"/>
          </a:xfrm>
        </p:spPr>
        <p:txBody>
          <a:bodyPr/>
          <a:lstStyle/>
          <a:p>
            <a:r>
              <a: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3.1  </a:t>
            </a: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사업개요</a:t>
            </a: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4AB02674-EEFD-C92D-EA3E-BD5E78BE4E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700" y="927000"/>
            <a:ext cx="7912100" cy="349711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ts val="0"/>
              </a:spcBef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본 건 사업은 </a:t>
            </a:r>
            <a:r>
              <a:rPr lang="ko-KR" altLang="en-US" sz="900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더함도시개발이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충청남도 천안시 </a:t>
            </a:r>
            <a:r>
              <a:rPr lang="ko-KR" altLang="en-US" sz="900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서북구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</a:t>
            </a:r>
            <a:r>
              <a:rPr lang="ko-KR" altLang="en-US" sz="900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부대동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 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354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번지 일원 대지 면적 약 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21,665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평에 진행하는</a:t>
            </a:r>
            <a:endParaRPr lang="en-US" altLang="ko-KR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천안 부성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지구 </a:t>
            </a:r>
            <a:r>
              <a:rPr lang="ko-KR" altLang="en-US" sz="900" dirty="0" err="1">
                <a:latin typeface="피플폰트 Bold" panose="020B0600000101010101" pitchFamily="50" charset="-127"/>
                <a:ea typeface="피플폰트 Bold" panose="020B0600000101010101" pitchFamily="50" charset="-127"/>
              </a:rPr>
              <a:t>도시개발사업입니다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.</a:t>
            </a:r>
            <a:endParaRPr lang="ko-KR" altLang="en-US" sz="9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2BBF2A-62ED-4B9E-A849-EEA3A91C0AD2}"/>
              </a:ext>
            </a:extLst>
          </p:cNvPr>
          <p:cNvSpPr txBox="1"/>
          <p:nvPr/>
        </p:nvSpPr>
        <p:spPr>
          <a:xfrm>
            <a:off x="393699" y="1474119"/>
            <a:ext cx="2976518" cy="27699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사업개요</a:t>
            </a: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천안 부성</a:t>
            </a: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2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지구 도시개발사업</a:t>
            </a: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endParaRPr lang="ko-KR" altLang="en-US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15" name="슬라이드 번호 개체 틀 1">
            <a:extLst>
              <a:ext uri="{FF2B5EF4-FFF2-40B4-BE49-F238E27FC236}">
                <a16:creationId xmlns:a16="http://schemas.microsoft.com/office/drawing/2014/main" id="{528CE38A-5D62-47ED-A95A-317C94998405}"/>
              </a:ext>
            </a:extLst>
          </p:cNvPr>
          <p:cNvSpPr txBox="1">
            <a:spLocks/>
          </p:cNvSpPr>
          <p:nvPr/>
        </p:nvSpPr>
        <p:spPr>
          <a:xfrm>
            <a:off x="6567488" y="6576219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천안 부성</a:t>
            </a:r>
            <a:r>
              <a:rPr lang="en-US" altLang="ko-KR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2</a:t>
            </a:r>
            <a:r>
              <a:rPr lang="ko-KR" altLang="en-US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지구 도시개발사업｜</a:t>
            </a:r>
            <a:r>
              <a:rPr lang="en-US" altLang="ko-KR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  </a:t>
            </a:r>
            <a:fld id="{F3A57096-21A8-44ED-AF94-8A259496D2BE}" type="slidenum">
              <a:rPr lang="en-US" altLang="en-US" smtClean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pPr>
                <a:defRPr/>
              </a:pPr>
              <a:t>11</a:t>
            </a:fld>
            <a:endParaRPr lang="en-US" altLang="en-US" dirty="0"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  <p:pic>
        <p:nvPicPr>
          <p:cNvPr id="17" name="image5.jpeg">
            <a:extLst>
              <a:ext uri="{FF2B5EF4-FFF2-40B4-BE49-F238E27FC236}">
                <a16:creationId xmlns:a16="http://schemas.microsoft.com/office/drawing/2014/main" id="{2DBFA28C-68FF-4FDB-A8DA-99A7AF2223D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8748" y="4480370"/>
            <a:ext cx="3012394" cy="18880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C36BB5-E184-48D2-AA17-1FE85DA7C445}"/>
              </a:ext>
            </a:extLst>
          </p:cNvPr>
          <p:cNvSpPr txBox="1"/>
          <p:nvPr/>
        </p:nvSpPr>
        <p:spPr>
          <a:xfrm>
            <a:off x="5020488" y="1474119"/>
            <a:ext cx="1687513" cy="27699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사업개요</a:t>
            </a: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공동주택</a:t>
            </a:r>
            <a:r>
              <a:rPr lang="en-US" altLang="ko-KR" sz="12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endParaRPr lang="ko-KR" altLang="en-US" sz="12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4D1C0F7-5D85-4656-B47C-C1651CEEA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023527"/>
              </p:ext>
            </p:extLst>
          </p:nvPr>
        </p:nvGraphicFramePr>
        <p:xfrm>
          <a:off x="1520810" y="3799650"/>
          <a:ext cx="3222638" cy="2592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182">
                  <a:extLst>
                    <a:ext uri="{9D8B030D-6E8A-4147-A177-3AD203B41FA5}">
                      <a16:colId xmlns:a16="http://schemas.microsoft.com/office/drawing/2014/main" val="3336956320"/>
                    </a:ext>
                  </a:extLst>
                </a:gridCol>
                <a:gridCol w="862919">
                  <a:extLst>
                    <a:ext uri="{9D8B030D-6E8A-4147-A177-3AD203B41FA5}">
                      <a16:colId xmlns:a16="http://schemas.microsoft.com/office/drawing/2014/main" val="3716761822"/>
                    </a:ext>
                  </a:extLst>
                </a:gridCol>
                <a:gridCol w="598327">
                  <a:extLst>
                    <a:ext uri="{9D8B030D-6E8A-4147-A177-3AD203B41FA5}">
                      <a16:colId xmlns:a16="http://schemas.microsoft.com/office/drawing/2014/main" val="2516319639"/>
                    </a:ext>
                  </a:extLst>
                </a:gridCol>
                <a:gridCol w="598327">
                  <a:extLst>
                    <a:ext uri="{9D8B030D-6E8A-4147-A177-3AD203B41FA5}">
                      <a16:colId xmlns:a16="http://schemas.microsoft.com/office/drawing/2014/main" val="3155971177"/>
                    </a:ext>
                  </a:extLst>
                </a:gridCol>
                <a:gridCol w="787883">
                  <a:extLst>
                    <a:ext uri="{9D8B030D-6E8A-4147-A177-3AD203B41FA5}">
                      <a16:colId xmlns:a16="http://schemas.microsoft.com/office/drawing/2014/main" val="674627730"/>
                    </a:ext>
                  </a:extLst>
                </a:gridCol>
              </a:tblGrid>
              <a:tr h="16122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구분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5BE">
                        <a:alpha val="3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5BE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면적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(</a:t>
                      </a:r>
                      <a:r>
                        <a:rPr lang="en-US" altLang="ko-KR" sz="7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m</a:t>
                      </a:r>
                      <a:r>
                        <a:rPr lang="en-US" altLang="ko-KR" sz="700" b="0" kern="1200" baseline="300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)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5BE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비중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(%)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5BE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비고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5BE">
                        <a:alpha val="3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880601"/>
                  </a:ext>
                </a:extLst>
              </a:tr>
              <a:tr h="16122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합계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14,822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100.0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448616"/>
                  </a:ext>
                </a:extLst>
              </a:tr>
              <a:tr h="16122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주거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용지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소계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87.408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60.8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408811"/>
                  </a:ext>
                </a:extLst>
              </a:tr>
              <a:tr h="1612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공동주택용지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71,620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49.8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9555"/>
                  </a:ext>
                </a:extLst>
              </a:tr>
              <a:tr h="1612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준주거시설용지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15,788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11.0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160543"/>
                  </a:ext>
                </a:extLst>
              </a:tr>
              <a:tr h="161225"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도시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기반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시설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용지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소계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52,384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36.4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844956"/>
                  </a:ext>
                </a:extLst>
              </a:tr>
              <a:tr h="1612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복합커뮤니티시설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2,323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1.6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1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개소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143697"/>
                  </a:ext>
                </a:extLst>
              </a:tr>
              <a:tr h="1612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저류지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2,475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1.7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1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개소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776715"/>
                  </a:ext>
                </a:extLst>
              </a:tr>
              <a:tr h="1612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공원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4,658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3.2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1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개소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851187"/>
                  </a:ext>
                </a:extLst>
              </a:tr>
              <a:tr h="1612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녹지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6,579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4.6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1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개소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740436"/>
                  </a:ext>
                </a:extLst>
              </a:tr>
              <a:tr h="1612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하천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5,327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3.7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1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개소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46533"/>
                  </a:ext>
                </a:extLst>
              </a:tr>
              <a:tr h="1612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보행자 전용 도로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480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0.3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2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개 노선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0801"/>
                  </a:ext>
                </a:extLst>
              </a:tr>
              <a:tr h="1612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주차장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1,441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1.0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03593"/>
                  </a:ext>
                </a:extLst>
              </a:tr>
              <a:tr h="1612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도로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29,101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20.3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9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개 노선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983872"/>
                  </a:ext>
                </a:extLst>
              </a:tr>
              <a:tr h="16122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기타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시설</a:t>
                      </a:r>
                      <a:endParaRPr lang="en-US" altLang="ko-KR" sz="7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용지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소계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4,030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2.8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63559"/>
                  </a:ext>
                </a:extLst>
              </a:tr>
              <a:tr h="17362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노업용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 수로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4,030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2.8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관리용도로 포함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67148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B4C0DED-FC0A-4276-BB06-0290D081D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24" t="35068" r="5643" b="19413"/>
          <a:stretch/>
        </p:blipFill>
        <p:spPr>
          <a:xfrm>
            <a:off x="-1" y="4136207"/>
            <a:ext cx="9906001" cy="246396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DD57231-2B6A-43DF-9ED0-FB2FB86EF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3" y="257826"/>
            <a:ext cx="2665584" cy="213076"/>
          </a:xfrm>
          <a:prstGeom prst="rect">
            <a:avLst/>
          </a:prstGeom>
        </p:spPr>
      </p:pic>
      <p:sp>
        <p:nvSpPr>
          <p:cNvPr id="25" name="타원 24">
            <a:extLst>
              <a:ext uri="{FF2B5EF4-FFF2-40B4-BE49-F238E27FC236}">
                <a16:creationId xmlns:a16="http://schemas.microsoft.com/office/drawing/2014/main" id="{892442E4-BA68-419D-944D-0E981AEF998B}"/>
              </a:ext>
            </a:extLst>
          </p:cNvPr>
          <p:cNvSpPr/>
          <p:nvPr/>
        </p:nvSpPr>
        <p:spPr>
          <a:xfrm>
            <a:off x="6256041" y="2960411"/>
            <a:ext cx="3132000" cy="313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B56E101-BCBD-40A4-99F5-D2FDC42CA5A3}"/>
              </a:ext>
            </a:extLst>
          </p:cNvPr>
          <p:cNvSpPr/>
          <p:nvPr/>
        </p:nvSpPr>
        <p:spPr>
          <a:xfrm>
            <a:off x="6479253" y="3164844"/>
            <a:ext cx="2680631" cy="2723133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A3FD978-F67F-4F41-A996-C9D3FB06FE38}"/>
              </a:ext>
            </a:extLst>
          </p:cNvPr>
          <p:cNvSpPr/>
          <p:nvPr/>
        </p:nvSpPr>
        <p:spPr>
          <a:xfrm>
            <a:off x="5877822" y="264438"/>
            <a:ext cx="3492000" cy="34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442E925-D1CF-4E49-8E1A-6BE23EF6B1EB}"/>
              </a:ext>
            </a:extLst>
          </p:cNvPr>
          <p:cNvSpPr/>
          <p:nvPr/>
        </p:nvSpPr>
        <p:spPr>
          <a:xfrm>
            <a:off x="6146441" y="495050"/>
            <a:ext cx="2959819" cy="3045868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9DF0422-9C1C-4D6E-84D9-B33AD0834E5C}"/>
              </a:ext>
            </a:extLst>
          </p:cNvPr>
          <p:cNvSpPr/>
          <p:nvPr/>
        </p:nvSpPr>
        <p:spPr>
          <a:xfrm>
            <a:off x="4893066" y="2222958"/>
            <a:ext cx="2448000" cy="2448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F801DFB0-65D4-4FF3-A4CD-523E0B863A92}"/>
              </a:ext>
            </a:extLst>
          </p:cNvPr>
          <p:cNvSpPr/>
          <p:nvPr/>
        </p:nvSpPr>
        <p:spPr>
          <a:xfrm>
            <a:off x="5091944" y="2395729"/>
            <a:ext cx="2072556" cy="2085592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5F2CF36-38A3-4A79-B832-57FCCC1929A4}"/>
              </a:ext>
            </a:extLst>
          </p:cNvPr>
          <p:cNvGrpSpPr/>
          <p:nvPr/>
        </p:nvGrpSpPr>
        <p:grpSpPr>
          <a:xfrm>
            <a:off x="1271800" y="3565688"/>
            <a:ext cx="1638894" cy="338554"/>
            <a:chOff x="1450226" y="3100952"/>
            <a:chExt cx="1638894" cy="33855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E28E92-72BA-4563-8F91-92E4C2566D9F}"/>
                </a:ext>
              </a:extLst>
            </p:cNvPr>
            <p:cNvSpPr txBox="1"/>
            <p:nvPr/>
          </p:nvSpPr>
          <p:spPr>
            <a:xfrm>
              <a:off x="1952270" y="3100952"/>
              <a:ext cx="1136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 err="1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차주사</a:t>
              </a:r>
              <a:r>
                <a:rPr lang="ko-KR" altLang="en-US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 개요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899673F-CDEE-4E43-92EC-AB5BC385E734}"/>
                </a:ext>
              </a:extLst>
            </p:cNvPr>
            <p:cNvSpPr txBox="1"/>
            <p:nvPr/>
          </p:nvSpPr>
          <p:spPr>
            <a:xfrm>
              <a:off x="1450226" y="3100952"/>
              <a:ext cx="4446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4.1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0C7AD87-666B-4DF0-B421-61A74BB13515}"/>
              </a:ext>
            </a:extLst>
          </p:cNvPr>
          <p:cNvSpPr txBox="1"/>
          <p:nvPr/>
        </p:nvSpPr>
        <p:spPr>
          <a:xfrm>
            <a:off x="1169067" y="2953758"/>
            <a:ext cx="361439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01  Appendix</a:t>
            </a: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085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07ED05E1-E27D-42FC-A1B1-9161FF0874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10" t="31255" r="16174" b="4273"/>
          <a:stretch/>
        </p:blipFill>
        <p:spPr>
          <a:xfrm>
            <a:off x="0" y="-1"/>
            <a:ext cx="9906000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378EBF-6031-4786-87A6-759A81DCD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085" y="4966567"/>
            <a:ext cx="643210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19118" indent="-219118">
              <a:defRPr/>
            </a:pPr>
            <a:r>
              <a:rPr lang="ko-KR" altLang="en-US" sz="1000" b="1" kern="0" dirty="0">
                <a:solidFill>
                  <a:sysClr val="windowText" lastClr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itchFamily="34" charset="0"/>
              </a:rPr>
              <a:t>본 자료와 관련하여 문의사항이 있으실 경우 아래의 담당자에게 언제든지 연락하여 주시면 성심껏 답변하여 드리겠습니다</a:t>
            </a:r>
            <a:r>
              <a:rPr lang="en-US" altLang="ko-KR" sz="1000" b="1" kern="0" dirty="0">
                <a:solidFill>
                  <a:sysClr val="windowText" lastClr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itchFamily="34" charset="0"/>
              </a:rPr>
              <a:t>.</a:t>
            </a:r>
            <a:endParaRPr lang="ko-KR" altLang="en-US" sz="1000" b="1" kern="0" dirty="0">
              <a:solidFill>
                <a:sysClr val="windowText" lastClr="000000"/>
              </a:solidFill>
              <a:latin typeface="피플폰트 Bold" panose="020B0600000101010101" pitchFamily="50" charset="-127"/>
              <a:ea typeface="피플폰트 Bold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F88A03B-A403-4E01-9951-EE88BCB4C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486318"/>
              </p:ext>
            </p:extLst>
          </p:nvPr>
        </p:nvGraphicFramePr>
        <p:xfrm>
          <a:off x="1216085" y="5212788"/>
          <a:ext cx="7473830" cy="1054824"/>
        </p:xfrm>
        <a:graphic>
          <a:graphicData uri="http://schemas.openxmlformats.org/drawingml/2006/table">
            <a:tbl>
              <a:tblPr firstRow="1" bandRow="1"/>
              <a:tblGrid>
                <a:gridCol w="1109804">
                  <a:extLst>
                    <a:ext uri="{9D8B030D-6E8A-4147-A177-3AD203B41FA5}">
                      <a16:colId xmlns:a16="http://schemas.microsoft.com/office/drawing/2014/main" val="3489200769"/>
                    </a:ext>
                  </a:extLst>
                </a:gridCol>
                <a:gridCol w="1109804">
                  <a:extLst>
                    <a:ext uri="{9D8B030D-6E8A-4147-A177-3AD203B41FA5}">
                      <a16:colId xmlns:a16="http://schemas.microsoft.com/office/drawing/2014/main" val="3330462320"/>
                    </a:ext>
                  </a:extLst>
                </a:gridCol>
                <a:gridCol w="1109804">
                  <a:extLst>
                    <a:ext uri="{9D8B030D-6E8A-4147-A177-3AD203B41FA5}">
                      <a16:colId xmlns:a16="http://schemas.microsoft.com/office/drawing/2014/main" val="1890356954"/>
                    </a:ext>
                  </a:extLst>
                </a:gridCol>
                <a:gridCol w="2516412">
                  <a:extLst>
                    <a:ext uri="{9D8B030D-6E8A-4147-A177-3AD203B41FA5}">
                      <a16:colId xmlns:a16="http://schemas.microsoft.com/office/drawing/2014/main" val="4272298019"/>
                    </a:ext>
                  </a:extLst>
                </a:gridCol>
                <a:gridCol w="1628006">
                  <a:extLst>
                    <a:ext uri="{9D8B030D-6E8A-4147-A177-3AD203B41FA5}">
                      <a16:colId xmlns:a16="http://schemas.microsoft.com/office/drawing/2014/main" val="2375832908"/>
                    </a:ext>
                  </a:extLst>
                </a:gridCol>
              </a:tblGrid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직급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이름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E-mail</a:t>
                      </a:r>
                      <a:endParaRPr lang="ko-KR" altLang="en-US" sz="1050" dirty="0">
                        <a:solidFill>
                          <a:schemeClr val="bg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연락처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827196"/>
                  </a:ext>
                </a:extLst>
              </a:tr>
              <a:tr h="2637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대표이사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박광희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pkh@rainfieldinv.com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010-4490-2050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478623"/>
                  </a:ext>
                </a:extLst>
              </a:tr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투자금융본부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팀장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최재영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cjy@rainfieldinv.com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010-3090-3576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069950"/>
                  </a:ext>
                </a:extLst>
              </a:tr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대체투자본부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팀장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이주호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ljh@rainfieldinv.com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010-5054-9208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814199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D2E3653A-1EF8-4176-AE78-824C7DB17FF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04" t="13244" r="18493" b="20606"/>
          <a:stretch/>
        </p:blipFill>
        <p:spPr>
          <a:xfrm>
            <a:off x="3276600" y="1356361"/>
            <a:ext cx="3352800" cy="337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44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11092</TotalTime>
  <Words>1232</Words>
  <Application>Microsoft Office PowerPoint</Application>
  <PresentationFormat>A4 용지(210x297mm)</PresentationFormat>
  <Paragraphs>358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Montserrat Bold</vt:lpstr>
      <vt:lpstr>맑은 고딕</vt:lpstr>
      <vt:lpstr>Batang</vt:lpstr>
      <vt:lpstr>피플폰트 Bold</vt:lpstr>
      <vt:lpstr>피플폰트 Light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레인필드투자자문</dc:creator>
  <cp:lastModifiedBy>레인필드투자자문</cp:lastModifiedBy>
  <cp:revision>1243</cp:revision>
  <cp:lastPrinted>2026-03-06T05:58:23Z</cp:lastPrinted>
  <dcterms:created xsi:type="dcterms:W3CDTF">2026-02-10T06:23:32Z</dcterms:created>
  <dcterms:modified xsi:type="dcterms:W3CDTF">2026-05-12T04:07:15Z</dcterms:modified>
</cp:coreProperties>
</file>